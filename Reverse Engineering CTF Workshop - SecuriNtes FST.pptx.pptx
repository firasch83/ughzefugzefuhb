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ourier New Bold" charset="1" panose="02070609020205020404"/>
      <p:regular r:id="rId31"/>
    </p:embeddedFont>
    <p:embeddedFont>
      <p:font typeface="Courier New" charset="1" panose="02070309020205020404"/>
      <p:regular r:id="rId32"/>
    </p:embeddedFont>
    <p:embeddedFont>
      <p:font typeface="Arial Italics" charset="1" panose="020B0604020202090204"/>
      <p:regular r:id="rId33"/>
    </p:embeddedFont>
    <p:embeddedFont>
      <p:font typeface="Arial" charset="1" panose="020B0604020202020204"/>
      <p:regular r:id="rId34"/>
    </p:embeddedFont>
    <p:embeddedFont>
      <p:font typeface="Courier New Italics" charset="1" panose="02070409020205090404"/>
      <p:regular r:id="rId37"/>
    </p:embeddedFont>
    <p:embeddedFont>
      <p:font typeface="Arial Bold" charset="1" panose="020B0704020202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34440" y="754380"/>
            <a:ext cx="5486400" cy="548640"/>
            <a:chOff x="0" y="0"/>
            <a:chExt cx="7315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73152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 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3497580"/>
            <a:ext cx="10972800" cy="548640"/>
            <a:chOff x="0" y="0"/>
            <a:chExt cx="146304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root@ctf-workshop:~$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3292" y="4046220"/>
            <a:ext cx="15773400" cy="1508760"/>
            <a:chOff x="0" y="0"/>
            <a:chExt cx="2103120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312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03120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60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./reverse_engineering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5280660"/>
            <a:ext cx="15087600" cy="1371600"/>
            <a:chOff x="0" y="0"/>
            <a:chExt cx="20116800" cy="182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01168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REVERSE ENGINEERING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3020" y="6652260"/>
            <a:ext cx="13716000" cy="685800"/>
            <a:chOff x="0" y="0"/>
            <a:chExt cx="182880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8288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58A6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A hands-on workshop — from binary to understanding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5840">
            <a:off x="1224896" y="7676197"/>
            <a:ext cx="4133898" cy="0"/>
          </a:xfrm>
          <a:prstGeom prst="line">
            <a:avLst/>
          </a:prstGeom>
          <a:ln cap="rnd" w="9525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34440" y="7886700"/>
            <a:ext cx="8229600" cy="548640"/>
            <a:chOff x="0" y="0"/>
            <a:chExt cx="10972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Presented by  Youssef Hafsouni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46975" y="671512"/>
            <a:ext cx="2360295" cy="2360295"/>
            <a:chOff x="0" y="0"/>
            <a:chExt cx="3147060" cy="31470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47060" cy="3147060"/>
            </a:xfrm>
            <a:custGeom>
              <a:avLst/>
              <a:gdLst/>
              <a:ahLst/>
              <a:cxnLst/>
              <a:rect r="r" b="b" t="t" l="l"/>
              <a:pathLst>
                <a:path h="3147060" w="3147060">
                  <a:moveTo>
                    <a:pt x="0" y="1573530"/>
                  </a:moveTo>
                  <a:cubicBezTo>
                    <a:pt x="0" y="704469"/>
                    <a:pt x="704469" y="0"/>
                    <a:pt x="1573530" y="0"/>
                  </a:cubicBezTo>
                  <a:cubicBezTo>
                    <a:pt x="2442591" y="0"/>
                    <a:pt x="3147060" y="704469"/>
                    <a:pt x="3147060" y="1573530"/>
                  </a:cubicBezTo>
                  <a:cubicBezTo>
                    <a:pt x="3147060" y="2442591"/>
                    <a:pt x="2442591" y="3147060"/>
                    <a:pt x="1573530" y="3147060"/>
                  </a:cubicBezTo>
                  <a:cubicBezTo>
                    <a:pt x="704469" y="3147060"/>
                    <a:pt x="0" y="2442591"/>
                    <a:pt x="0" y="157353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61263" y="685800"/>
            <a:ext cx="2331720" cy="2331720"/>
            <a:chOff x="0" y="0"/>
            <a:chExt cx="3108960" cy="3108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08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108960" cy="3118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403"/>
                </a:lnSpc>
              </a:pPr>
              <a:r>
                <a:rPr lang="en-US" sz="8669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&gt;_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02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What is Reverse Engineering?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2606040"/>
            <a:ext cx="9189720" cy="2331720"/>
            <a:chOff x="0" y="0"/>
            <a:chExt cx="12252960" cy="3108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5296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93" r="0" b="-267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2252960" cy="3194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5"/>
                </a:lnSpc>
              </a:pPr>
              <a:r>
                <a:rPr lang="en-US" sz="255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Reverse engineering is the process of analyzing a system — software or hardware — to understand how it works, without access to its original source code or design documents.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869180"/>
            <a:ext cx="9189720" cy="2194560"/>
            <a:chOff x="0" y="0"/>
            <a:chExt cx="12252960" cy="2926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52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93" r="0" b="-315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1225296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5"/>
                </a:lnSpc>
              </a:pPr>
              <a:r>
                <a:rPr lang="en-US" sz="255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In CTF challenges, that usually means taking a compiled binary and working backwards — through disassembly, decompilation, and dynamic tracing — to recover the logic that produces a hidden flag.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63275" y="2596515"/>
            <a:ext cx="6122670" cy="5642610"/>
            <a:chOff x="0" y="0"/>
            <a:chExt cx="8163560" cy="7523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63560" cy="7523480"/>
            </a:xfrm>
            <a:custGeom>
              <a:avLst/>
              <a:gdLst/>
              <a:ahLst/>
              <a:cxnLst/>
              <a:rect r="r" b="b" t="t" l="l"/>
              <a:pathLst>
                <a:path h="7523480" w="8163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8016748" y="0"/>
                  </a:lnTo>
                  <a:cubicBezTo>
                    <a:pt x="8097774" y="0"/>
                    <a:pt x="8163560" y="65659"/>
                    <a:pt x="8163560" y="146812"/>
                  </a:cubicBezTo>
                  <a:lnTo>
                    <a:pt x="8163560" y="7376668"/>
                  </a:lnTo>
                  <a:cubicBezTo>
                    <a:pt x="8163560" y="7457694"/>
                    <a:pt x="8097901" y="7523480"/>
                    <a:pt x="8016748" y="7523480"/>
                  </a:cubicBezTo>
                  <a:lnTo>
                    <a:pt x="146812" y="7523480"/>
                  </a:lnTo>
                  <a:cubicBezTo>
                    <a:pt x="65659" y="7523480"/>
                    <a:pt x="0" y="7457821"/>
                    <a:pt x="0" y="737666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274552" y="2907792"/>
            <a:ext cx="150876" cy="150876"/>
            <a:chOff x="0" y="0"/>
            <a:chExt cx="201168" cy="2011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535156" y="2907792"/>
            <a:ext cx="150876" cy="150876"/>
            <a:chOff x="0" y="0"/>
            <a:chExt cx="201168" cy="2011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795760" y="2907792"/>
            <a:ext cx="150876" cy="150876"/>
            <a:chOff x="0" y="0"/>
            <a:chExt cx="201168" cy="2011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01500" y="2798064"/>
            <a:ext cx="4732020" cy="384048"/>
            <a:chOff x="0" y="0"/>
            <a:chExt cx="630936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512064"/>
            </a:xfrm>
            <a:custGeom>
              <a:avLst/>
              <a:gdLst/>
              <a:ahLst/>
              <a:cxnLst/>
              <a:rect r="r" b="b" t="t" l="l"/>
              <a:pathLst>
                <a:path h="512064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6309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definition.txt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452860" y="3497580"/>
            <a:ext cx="5212080" cy="617220"/>
            <a:chOff x="0" y="0"/>
            <a:chExt cx="6949440" cy="822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49440" cy="822960"/>
            </a:xfrm>
            <a:custGeom>
              <a:avLst/>
              <a:gdLst/>
              <a:ahLst/>
              <a:cxnLst/>
              <a:rect r="r" b="b" t="t" l="l"/>
              <a:pathLst>
                <a:path h="822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9494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8A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input </a:t>
              </a:r>
              <a:r>
                <a:rPr lang="en-US" sz="19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 </a:t>
              </a: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"compiled binary"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452860" y="4251960"/>
            <a:ext cx="5212080" cy="617220"/>
            <a:chOff x="0" y="0"/>
            <a:chExt cx="694944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822960"/>
            </a:xfrm>
            <a:custGeom>
              <a:avLst/>
              <a:gdLst/>
              <a:ahLst/>
              <a:cxnLst/>
              <a:rect r="r" b="b" t="t" l="l"/>
              <a:pathLst>
                <a:path h="822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69494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8A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goal </a:t>
              </a:r>
              <a:r>
                <a:rPr lang="en-US" sz="19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 </a:t>
              </a: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"recover behavior"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452860" y="5006340"/>
            <a:ext cx="5212080" cy="617220"/>
            <a:chOff x="0" y="0"/>
            <a:chExt cx="694944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0" cy="822960"/>
            </a:xfrm>
            <a:custGeom>
              <a:avLst/>
              <a:gdLst/>
              <a:ahLst/>
              <a:cxnLst/>
              <a:rect r="r" b="b" t="t" l="l"/>
              <a:pathLst>
                <a:path h="822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69494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8A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output </a:t>
              </a:r>
              <a:r>
                <a:rPr lang="en-US" sz="19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 </a:t>
              </a: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"human understanding"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52860" y="5760720"/>
            <a:ext cx="5212080" cy="617220"/>
            <a:chOff x="0" y="0"/>
            <a:chExt cx="694944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49440" cy="822960"/>
            </a:xfrm>
            <a:custGeom>
              <a:avLst/>
              <a:gdLst/>
              <a:ahLst/>
              <a:cxnLst/>
              <a:rect r="r" b="b" t="t" l="l"/>
              <a:pathLst>
                <a:path h="8229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540" r="0" b="-1145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94944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8A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used_in </a:t>
              </a:r>
              <a:r>
                <a:rPr lang="en-US" sz="19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= </a:t>
              </a: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"security, CTF, malware"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03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From Code to Understanding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08644" y="4237672"/>
            <a:ext cx="4006215" cy="1948815"/>
            <a:chOff x="0" y="0"/>
            <a:chExt cx="5341620" cy="25984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41620" cy="2598420"/>
            </a:xfrm>
            <a:custGeom>
              <a:avLst/>
              <a:gdLst/>
              <a:ahLst/>
              <a:cxnLst/>
              <a:rect r="r" b="b" t="t" l="l"/>
              <a:pathLst>
                <a:path h="2598420" w="53416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5193157" y="0"/>
                  </a:lnTo>
                  <a:cubicBezTo>
                    <a:pt x="5275199" y="0"/>
                    <a:pt x="5341620" y="66421"/>
                    <a:pt x="5341620" y="148463"/>
                  </a:cubicBezTo>
                  <a:lnTo>
                    <a:pt x="5341620" y="2449957"/>
                  </a:lnTo>
                  <a:cubicBezTo>
                    <a:pt x="5341620" y="2531999"/>
                    <a:pt x="5275199" y="2598420"/>
                    <a:pt x="5193157" y="2598420"/>
                  </a:cubicBezTo>
                  <a:lnTo>
                    <a:pt x="148463" y="2598420"/>
                  </a:lnTo>
                  <a:cubicBezTo>
                    <a:pt x="66421" y="2598420"/>
                    <a:pt x="0" y="2531999"/>
                    <a:pt x="0" y="2449957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58A6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422931" y="4636008"/>
            <a:ext cx="3977640" cy="685800"/>
            <a:chOff x="0" y="0"/>
            <a:chExt cx="530352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303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SOURCE CODE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22931" y="5321808"/>
            <a:ext cx="3977640" cy="548640"/>
            <a:chOff x="0" y="0"/>
            <a:chExt cx="53035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303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Human readable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165120">
            <a:off x="6381064" y="5202555"/>
            <a:ext cx="793394" cy="0"/>
          </a:xfrm>
          <a:prstGeom prst="line">
            <a:avLst/>
          </a:prstGeom>
          <a:ln cap="rnd" w="19050">
            <a:solidFill>
              <a:srgbClr val="8B949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4" id="24"/>
          <p:cNvGrpSpPr/>
          <p:nvPr/>
        </p:nvGrpSpPr>
        <p:grpSpPr>
          <a:xfrm rot="0">
            <a:off x="5989091" y="3675888"/>
            <a:ext cx="1577340" cy="480060"/>
            <a:chOff x="0" y="0"/>
            <a:chExt cx="210312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031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21031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58A6FF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Compilation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140664" y="4237672"/>
            <a:ext cx="4006215" cy="1948815"/>
            <a:chOff x="0" y="0"/>
            <a:chExt cx="5341620" cy="25984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41620" cy="2598420"/>
            </a:xfrm>
            <a:custGeom>
              <a:avLst/>
              <a:gdLst/>
              <a:ahLst/>
              <a:cxnLst/>
              <a:rect r="r" b="b" t="t" l="l"/>
              <a:pathLst>
                <a:path h="2598420" w="53416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5193157" y="0"/>
                  </a:lnTo>
                  <a:cubicBezTo>
                    <a:pt x="5275199" y="0"/>
                    <a:pt x="5341620" y="66421"/>
                    <a:pt x="5341620" y="148463"/>
                  </a:cubicBezTo>
                  <a:lnTo>
                    <a:pt x="5341620" y="2449957"/>
                  </a:lnTo>
                  <a:cubicBezTo>
                    <a:pt x="5341620" y="2531999"/>
                    <a:pt x="5275199" y="2598420"/>
                    <a:pt x="5193157" y="2598420"/>
                  </a:cubicBezTo>
                  <a:lnTo>
                    <a:pt x="148463" y="2598420"/>
                  </a:lnTo>
                  <a:cubicBezTo>
                    <a:pt x="66421" y="2598420"/>
                    <a:pt x="0" y="2531999"/>
                    <a:pt x="0" y="2449957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D2992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7154951" y="4636008"/>
            <a:ext cx="3977640" cy="685800"/>
            <a:chOff x="0" y="0"/>
            <a:chExt cx="530352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303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BINARY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54951" y="5321808"/>
            <a:ext cx="3977640" cy="548640"/>
            <a:chOff x="0" y="0"/>
            <a:chExt cx="5303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303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Machine code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165120">
            <a:off x="11113084" y="5202555"/>
            <a:ext cx="793394" cy="0"/>
          </a:xfrm>
          <a:prstGeom prst="line">
            <a:avLst/>
          </a:prstGeom>
          <a:ln cap="rnd" w="19050">
            <a:solidFill>
              <a:srgbClr val="8B949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6" id="36"/>
          <p:cNvGrpSpPr/>
          <p:nvPr/>
        </p:nvGrpSpPr>
        <p:grpSpPr>
          <a:xfrm rot="0">
            <a:off x="10721111" y="3675888"/>
            <a:ext cx="1577340" cy="480060"/>
            <a:chOff x="0" y="0"/>
            <a:chExt cx="210312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031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">
                  <a:moveTo>
                    <a:pt x="0" y="0"/>
                  </a:moveTo>
                  <a:lnTo>
                    <a:pt x="2103120" y="0"/>
                  </a:lnTo>
                  <a:lnTo>
                    <a:pt x="2103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2" r="0" b="-140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21031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3FB950"/>
                  </a:solidFill>
                  <a:latin typeface="Courier New Italics"/>
                  <a:ea typeface="Courier New Italics"/>
                  <a:cs typeface="Courier New Italics"/>
                  <a:sym typeface="Courier New Italics"/>
                </a:rPr>
                <a:t>Reverse Engineering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872684" y="4237672"/>
            <a:ext cx="4006215" cy="1948815"/>
            <a:chOff x="0" y="0"/>
            <a:chExt cx="5341620" cy="25984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341620" cy="2598420"/>
            </a:xfrm>
            <a:custGeom>
              <a:avLst/>
              <a:gdLst/>
              <a:ahLst/>
              <a:cxnLst/>
              <a:rect r="r" b="b" t="t" l="l"/>
              <a:pathLst>
                <a:path h="2598420" w="534162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5193157" y="0"/>
                  </a:lnTo>
                  <a:cubicBezTo>
                    <a:pt x="5275199" y="0"/>
                    <a:pt x="5341620" y="66421"/>
                    <a:pt x="5341620" y="148463"/>
                  </a:cubicBezTo>
                  <a:lnTo>
                    <a:pt x="5341620" y="2449957"/>
                  </a:lnTo>
                  <a:cubicBezTo>
                    <a:pt x="5341620" y="2531999"/>
                    <a:pt x="5275199" y="2598420"/>
                    <a:pt x="5193157" y="2598420"/>
                  </a:cubicBezTo>
                  <a:lnTo>
                    <a:pt x="148463" y="2598420"/>
                  </a:lnTo>
                  <a:cubicBezTo>
                    <a:pt x="66421" y="2598420"/>
                    <a:pt x="0" y="2531999"/>
                    <a:pt x="0" y="2449957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6971" y="4636008"/>
            <a:ext cx="3977640" cy="685800"/>
            <a:chOff x="0" y="0"/>
            <a:chExt cx="530352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03520" cy="914400"/>
            </a:xfrm>
            <a:custGeom>
              <a:avLst/>
              <a:gdLst/>
              <a:ahLst/>
              <a:cxnLst/>
              <a:rect r="r" b="b" t="t" l="l"/>
              <a:pathLst>
                <a:path h="9144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3035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UNDERSTANDING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6971" y="5321808"/>
            <a:ext cx="3977640" cy="548640"/>
            <a:chOff x="0" y="0"/>
            <a:chExt cx="5303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303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What does it do?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0240" y="6858000"/>
            <a:ext cx="14447063" cy="960120"/>
            <a:chOff x="0" y="0"/>
            <a:chExt cx="1926275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26275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62750">
                  <a:moveTo>
                    <a:pt x="0" y="0"/>
                  </a:moveTo>
                  <a:lnTo>
                    <a:pt x="19262750" y="0"/>
                  </a:lnTo>
                  <a:lnTo>
                    <a:pt x="1926275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194" r="0" b="-24319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926275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Compilation turns readable source into machine code. Reverse engineering runs that process backwards — turning opaque binaries back into understanding.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04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Why Learn RE?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2665095"/>
            <a:ext cx="4926178" cy="2693670"/>
            <a:chOff x="0" y="0"/>
            <a:chExt cx="6568237" cy="3591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63052" y="3003233"/>
            <a:ext cx="851535" cy="851535"/>
            <a:chOff x="0" y="0"/>
            <a:chExt cx="1135380" cy="11353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77340" y="3017520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06040" y="295732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Security Analysis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618488" y="4114800"/>
            <a:ext cx="4152748" cy="1097280"/>
            <a:chOff x="0" y="0"/>
            <a:chExt cx="5536997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Audit software for flaws before attackers do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680683" y="2665095"/>
            <a:ext cx="4926178" cy="2693670"/>
            <a:chOff x="0" y="0"/>
            <a:chExt cx="6568237" cy="3591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018820" y="3003233"/>
            <a:ext cx="851535" cy="851535"/>
            <a:chOff x="0" y="0"/>
            <a:chExt cx="1135380" cy="11353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F8514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033108" y="301752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F8514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061808" y="295732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Malware Analysis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074256" y="4114800"/>
            <a:ext cx="4152748" cy="1097280"/>
            <a:chOff x="0" y="0"/>
            <a:chExt cx="5536997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Understand what a malicious sample actually does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136450" y="2665095"/>
            <a:ext cx="4926178" cy="2693670"/>
            <a:chOff x="0" y="0"/>
            <a:chExt cx="6568237" cy="3591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474588" y="3003233"/>
            <a:ext cx="851535" cy="851535"/>
            <a:chOff x="0" y="0"/>
            <a:chExt cx="1135380" cy="11353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58A6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488875" y="3017520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517575" y="295732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CTF Competitions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2530023" y="4114800"/>
            <a:ext cx="4152748" cy="1097280"/>
            <a:chOff x="0" y="0"/>
            <a:chExt cx="5536997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A core category in almost every CTF event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4915" y="5819775"/>
            <a:ext cx="4926178" cy="2693670"/>
            <a:chOff x="0" y="0"/>
            <a:chExt cx="6568237" cy="3591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563052" y="6157912"/>
            <a:ext cx="851535" cy="851535"/>
            <a:chOff x="0" y="0"/>
            <a:chExt cx="1135380" cy="11353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D29922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577340" y="6172200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D2992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606040" y="611200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Software Debugging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618488" y="7269480"/>
            <a:ext cx="4152748" cy="1097280"/>
            <a:chOff x="0" y="0"/>
            <a:chExt cx="5536997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Diagnose issues with no source code available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680683" y="5819775"/>
            <a:ext cx="4926178" cy="2693670"/>
            <a:chOff x="0" y="0"/>
            <a:chExt cx="6568237" cy="35915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018820" y="6157912"/>
            <a:ext cx="851535" cy="851535"/>
            <a:chOff x="0" y="0"/>
            <a:chExt cx="1135380" cy="11353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BC8CF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7033108" y="6172200"/>
            <a:ext cx="822960" cy="822960"/>
            <a:chOff x="0" y="0"/>
            <a:chExt cx="109728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BC8C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061808" y="611200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Learning How Things Work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7074256" y="7269480"/>
            <a:ext cx="4152748" cy="1097280"/>
            <a:chOff x="0" y="0"/>
            <a:chExt cx="5536997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Build deep intuition for compilers &amp; systems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136450" y="5819775"/>
            <a:ext cx="4926178" cy="2693670"/>
            <a:chOff x="0" y="0"/>
            <a:chExt cx="6568237" cy="3591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68186" cy="3591560"/>
            </a:xfrm>
            <a:custGeom>
              <a:avLst/>
              <a:gdLst/>
              <a:ahLst/>
              <a:cxnLst/>
              <a:rect r="r" b="b" t="t" l="l"/>
              <a:pathLst>
                <a:path h="3591560" w="6568186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420866" y="0"/>
                  </a:lnTo>
                  <a:cubicBezTo>
                    <a:pt x="6502273" y="0"/>
                    <a:pt x="6568186" y="65913"/>
                    <a:pt x="6568186" y="147320"/>
                  </a:cubicBezTo>
                  <a:lnTo>
                    <a:pt x="6568186" y="3444240"/>
                  </a:lnTo>
                  <a:cubicBezTo>
                    <a:pt x="6568186" y="3525647"/>
                    <a:pt x="6502273" y="3591560"/>
                    <a:pt x="6420866" y="3591560"/>
                  </a:cubicBezTo>
                  <a:lnTo>
                    <a:pt x="147320" y="3591560"/>
                  </a:lnTo>
                  <a:cubicBezTo>
                    <a:pt x="65913" y="3591560"/>
                    <a:pt x="0" y="3525647"/>
                    <a:pt x="0" y="3444240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474588" y="6157912"/>
            <a:ext cx="851535" cy="851535"/>
            <a:chOff x="0" y="0"/>
            <a:chExt cx="1135380" cy="11353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488875" y="6172200"/>
            <a:ext cx="822960" cy="822960"/>
            <a:chOff x="0" y="0"/>
            <a:chExt cx="109728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3517575" y="6112002"/>
            <a:ext cx="3261208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 b="true">
                <a:solidFill>
                  <a:srgbClr val="E6EDF3"/>
                </a:solidFill>
                <a:latin typeface="Arial Bold"/>
                <a:ea typeface="Arial Bold"/>
                <a:cs typeface="Arial Bold"/>
                <a:sym typeface="Arial Bold"/>
              </a:rPr>
              <a:t>Hardware Hacking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2530023" y="7269480"/>
            <a:ext cx="4152748" cy="1097280"/>
            <a:chOff x="0" y="0"/>
            <a:chExt cx="5536997" cy="14630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536996" cy="1463040"/>
            </a:xfrm>
            <a:custGeom>
              <a:avLst/>
              <a:gdLst/>
              <a:ahLst/>
              <a:cxnLst/>
              <a:rect r="r" b="b" t="t" l="l"/>
              <a:pathLst>
                <a:path h="1463040" w="5536996">
                  <a:moveTo>
                    <a:pt x="0" y="0"/>
                  </a:moveTo>
                  <a:lnTo>
                    <a:pt x="5536996" y="0"/>
                  </a:lnTo>
                  <a:lnTo>
                    <a:pt x="5536996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2" r="0" b="-2374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5536997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Extend RE skills to firmware &amp; embedded devices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05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3497580"/>
            <a:ext cx="8229600" cy="548640"/>
            <a:chOff x="0" y="0"/>
            <a:chExt cx="10972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SECTION 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046220"/>
            <a:ext cx="13167360" cy="2194560"/>
            <a:chOff x="0" y="0"/>
            <a:chExt cx="1755648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56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55648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Linux CLI Tools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966460"/>
            <a:ext cx="11658600" cy="685800"/>
            <a:chOff x="0" y="0"/>
            <a:chExt cx="155448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55448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Fast triage before you open a disassembler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495" y="3414712"/>
            <a:ext cx="2634615" cy="2634615"/>
            <a:chOff x="0" y="0"/>
            <a:chExt cx="3512820" cy="3512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12820" cy="3512820"/>
            </a:xfrm>
            <a:custGeom>
              <a:avLst/>
              <a:gdLst/>
              <a:ahLst/>
              <a:cxnLst/>
              <a:rect r="r" b="b" t="t" l="l"/>
              <a:pathLst>
                <a:path h="3512820" w="3512820">
                  <a:moveTo>
                    <a:pt x="0" y="1756410"/>
                  </a:moveTo>
                  <a:cubicBezTo>
                    <a:pt x="0" y="786384"/>
                    <a:pt x="786384" y="0"/>
                    <a:pt x="1756410" y="0"/>
                  </a:cubicBezTo>
                  <a:cubicBezTo>
                    <a:pt x="2726436" y="0"/>
                    <a:pt x="3512820" y="786384"/>
                    <a:pt x="3512820" y="1756410"/>
                  </a:cubicBezTo>
                  <a:cubicBezTo>
                    <a:pt x="3512820" y="2726436"/>
                    <a:pt x="2726436" y="3512820"/>
                    <a:pt x="1756410" y="3512820"/>
                  </a:cubicBezTo>
                  <a:cubicBezTo>
                    <a:pt x="786384" y="3512820"/>
                    <a:pt x="0" y="2726436"/>
                    <a:pt x="0" y="175641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49783" y="3429000"/>
            <a:ext cx="2606040" cy="2606040"/>
            <a:chOff x="0" y="0"/>
            <a:chExt cx="3474720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74720" cy="3484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27"/>
                </a:lnSpc>
              </a:pPr>
              <a:r>
                <a:rPr lang="en-US" sz="969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$_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66900">
            <a:off x="1215209" y="3282315"/>
            <a:ext cx="1958711" cy="0"/>
          </a:xfrm>
          <a:prstGeom prst="line">
            <a:avLst/>
          </a:prstGeom>
          <a:ln cap="rnd" w="19050">
            <a:solidFill>
              <a:srgbClr val="3FB9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06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Tool 1: file command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Purpose — identify what type of file you're dealing with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939415"/>
            <a:ext cx="7837170" cy="5642610"/>
            <a:chOff x="0" y="0"/>
            <a:chExt cx="10449560" cy="7523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9560" cy="7523480"/>
            </a:xfrm>
            <a:custGeom>
              <a:avLst/>
              <a:gdLst/>
              <a:ahLst/>
              <a:cxnLst/>
              <a:rect r="r" b="b" t="t" l="l"/>
              <a:pathLst>
                <a:path h="7523480" w="10449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659"/>
                    <a:pt x="10449560" y="146812"/>
                  </a:cubicBezTo>
                  <a:lnTo>
                    <a:pt x="10449560" y="7376668"/>
                  </a:lnTo>
                  <a:cubicBezTo>
                    <a:pt x="10449560" y="7457694"/>
                    <a:pt x="10383901" y="7523480"/>
                    <a:pt x="10302748" y="7523480"/>
                  </a:cubicBezTo>
                  <a:lnTo>
                    <a:pt x="146812" y="7523480"/>
                  </a:lnTo>
                  <a:cubicBezTo>
                    <a:pt x="65659" y="7523480"/>
                    <a:pt x="0" y="7457821"/>
                    <a:pt x="0" y="737666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36192" y="3250692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96796" y="32506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3250692"/>
            <a:ext cx="150876" cy="150876"/>
            <a:chOff x="0" y="0"/>
            <a:chExt cx="201168" cy="2011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63140" y="3140964"/>
            <a:ext cx="6446520" cy="384048"/>
            <a:chOff x="0" y="0"/>
            <a:chExt cx="859536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595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7340" y="3771900"/>
            <a:ext cx="7132320" cy="3566160"/>
            <a:chOff x="0" y="0"/>
            <a:chExt cx="9509760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509760" cy="4831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file challenge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challenge: ELF 64-bit LSB pie executable,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x86-64, dynamically linked,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interpreter /lib64/ld-linux-x86-64.so.2,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not stripped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23095" y="2939415"/>
            <a:ext cx="7494270" cy="951738"/>
            <a:chOff x="0" y="0"/>
            <a:chExt cx="9992360" cy="12689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23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99923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880346" y="0"/>
                  </a:lnTo>
                  <a:cubicBezTo>
                    <a:pt x="9942195" y="0"/>
                    <a:pt x="9992360" y="50165"/>
                    <a:pt x="9992360" y="112014"/>
                  </a:cubicBezTo>
                  <a:lnTo>
                    <a:pt x="9992360" y="1156970"/>
                  </a:lnTo>
                  <a:cubicBezTo>
                    <a:pt x="9992360" y="1218819"/>
                    <a:pt x="9942195" y="1268984"/>
                    <a:pt x="98803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06940" y="2948940"/>
            <a:ext cx="2880360" cy="932688"/>
            <a:chOff x="0" y="0"/>
            <a:chExt cx="3840480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40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84048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ELF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755880" y="2948940"/>
            <a:ext cx="4046220" cy="932688"/>
            <a:chOff x="0" y="0"/>
            <a:chExt cx="5394960" cy="1243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4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0" r="0" b="-345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539496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Linux executable format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23095" y="4064127"/>
            <a:ext cx="7494270" cy="951738"/>
            <a:chOff x="0" y="0"/>
            <a:chExt cx="9992360" cy="12689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23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99923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880346" y="0"/>
                  </a:lnTo>
                  <a:cubicBezTo>
                    <a:pt x="9942195" y="0"/>
                    <a:pt x="9992360" y="50165"/>
                    <a:pt x="9992360" y="112014"/>
                  </a:cubicBezTo>
                  <a:lnTo>
                    <a:pt x="9992360" y="1156970"/>
                  </a:lnTo>
                  <a:cubicBezTo>
                    <a:pt x="9992360" y="1218819"/>
                    <a:pt x="9942195" y="1268984"/>
                    <a:pt x="98803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06940" y="4073652"/>
            <a:ext cx="2880360" cy="932688"/>
            <a:chOff x="0" y="0"/>
            <a:chExt cx="3840480" cy="12435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40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84048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64-bit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55880" y="4073652"/>
            <a:ext cx="4046220" cy="932688"/>
            <a:chOff x="0" y="0"/>
            <a:chExt cx="5394960" cy="12435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4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0" r="0" b="-345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39496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Architecture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23095" y="5188839"/>
            <a:ext cx="7494270" cy="951738"/>
            <a:chOff x="0" y="0"/>
            <a:chExt cx="9992360" cy="12689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923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99923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880346" y="0"/>
                  </a:lnTo>
                  <a:cubicBezTo>
                    <a:pt x="9942195" y="0"/>
                    <a:pt x="9992360" y="50165"/>
                    <a:pt x="9992360" y="112014"/>
                  </a:cubicBezTo>
                  <a:lnTo>
                    <a:pt x="9992360" y="1156970"/>
                  </a:lnTo>
                  <a:cubicBezTo>
                    <a:pt x="9992360" y="1218819"/>
                    <a:pt x="9942195" y="1268984"/>
                    <a:pt x="98803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06940" y="5198364"/>
            <a:ext cx="2880360" cy="932688"/>
            <a:chOff x="0" y="0"/>
            <a:chExt cx="3840480" cy="12435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40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84048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LSB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755880" y="5198364"/>
            <a:ext cx="4046220" cy="932688"/>
            <a:chOff x="0" y="0"/>
            <a:chExt cx="5394960" cy="12435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94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0" r="0" b="-345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539496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Little-endian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23095" y="6313551"/>
            <a:ext cx="7494270" cy="951738"/>
            <a:chOff x="0" y="0"/>
            <a:chExt cx="9992360" cy="12689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23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99923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880346" y="0"/>
                  </a:lnTo>
                  <a:cubicBezTo>
                    <a:pt x="9942195" y="0"/>
                    <a:pt x="9992360" y="50165"/>
                    <a:pt x="9992360" y="112014"/>
                  </a:cubicBezTo>
                  <a:lnTo>
                    <a:pt x="9992360" y="1156970"/>
                  </a:lnTo>
                  <a:cubicBezTo>
                    <a:pt x="9992360" y="1218819"/>
                    <a:pt x="9942195" y="1268984"/>
                    <a:pt x="98803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806940" y="6323076"/>
            <a:ext cx="2880360" cy="932688"/>
            <a:chOff x="0" y="0"/>
            <a:chExt cx="3840480" cy="12435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40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84048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x86-64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755880" y="6323076"/>
            <a:ext cx="4046220" cy="932688"/>
            <a:chOff x="0" y="0"/>
            <a:chExt cx="5394960" cy="12435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94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0" r="0" b="-3453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539496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Processor type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23095" y="7438263"/>
            <a:ext cx="7494270" cy="951738"/>
            <a:chOff x="0" y="0"/>
            <a:chExt cx="9992360" cy="12689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92360" cy="1268984"/>
            </a:xfrm>
            <a:custGeom>
              <a:avLst/>
              <a:gdLst/>
              <a:ahLst/>
              <a:cxnLst/>
              <a:rect r="r" b="b" t="t" l="l"/>
              <a:pathLst>
                <a:path h="1268984" w="999236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880346" y="0"/>
                  </a:lnTo>
                  <a:cubicBezTo>
                    <a:pt x="9942195" y="0"/>
                    <a:pt x="9992360" y="50165"/>
                    <a:pt x="9992360" y="112014"/>
                  </a:cubicBezTo>
                  <a:lnTo>
                    <a:pt x="9992360" y="1156970"/>
                  </a:lnTo>
                  <a:cubicBezTo>
                    <a:pt x="9992360" y="1218819"/>
                    <a:pt x="9942195" y="1268984"/>
                    <a:pt x="9880346" y="1268984"/>
                  </a:cubicBezTo>
                  <a:lnTo>
                    <a:pt x="112014" y="1268984"/>
                  </a:lnTo>
                  <a:cubicBezTo>
                    <a:pt x="50165" y="1268984"/>
                    <a:pt x="0" y="1218819"/>
                    <a:pt x="0" y="1156970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806940" y="7447788"/>
            <a:ext cx="2880360" cy="932688"/>
            <a:chOff x="0" y="0"/>
            <a:chExt cx="3840480" cy="12435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840480" cy="1243584"/>
            </a:xfrm>
            <a:custGeom>
              <a:avLst/>
              <a:gdLst/>
              <a:ahLst/>
              <a:cxnLst/>
              <a:rect r="r" b="b" t="t" l="l"/>
              <a:pathLst>
                <a:path h="1243584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4" r="0" b="-1017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840480" cy="12531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dynamically linked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755880" y="7447788"/>
            <a:ext cx="4046220" cy="932688"/>
            <a:chOff x="0" y="0"/>
            <a:chExt cx="5394960" cy="12435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94960" cy="1243584"/>
            </a:xfrm>
            <a:custGeom>
              <a:avLst/>
              <a:gdLst/>
              <a:ahLst/>
              <a:cxnLst/>
              <a:rect r="r" b="b" t="t" l="l"/>
              <a:pathLst>
                <a:path h="1243584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30" r="0" b="-3453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5394960" cy="1272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Uses shared libraries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07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Tool 2: strings command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Purpose — extract human-readable strings from a binary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939415"/>
            <a:ext cx="7837170" cy="5642610"/>
            <a:chOff x="0" y="0"/>
            <a:chExt cx="10449560" cy="7523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9560" cy="7523480"/>
            </a:xfrm>
            <a:custGeom>
              <a:avLst/>
              <a:gdLst/>
              <a:ahLst/>
              <a:cxnLst/>
              <a:rect r="r" b="b" t="t" l="l"/>
              <a:pathLst>
                <a:path h="7523480" w="10449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659"/>
                    <a:pt x="10449560" y="146812"/>
                  </a:cubicBezTo>
                  <a:lnTo>
                    <a:pt x="10449560" y="7376668"/>
                  </a:lnTo>
                  <a:cubicBezTo>
                    <a:pt x="10449560" y="7457694"/>
                    <a:pt x="10383901" y="7523480"/>
                    <a:pt x="10302748" y="7523480"/>
                  </a:cubicBezTo>
                  <a:lnTo>
                    <a:pt x="146812" y="7523480"/>
                  </a:lnTo>
                  <a:cubicBezTo>
                    <a:pt x="65659" y="7523480"/>
                    <a:pt x="0" y="7457821"/>
                    <a:pt x="0" y="737666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36192" y="3250692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96796" y="32506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3250692"/>
            <a:ext cx="150876" cy="150876"/>
            <a:chOff x="0" y="0"/>
            <a:chExt cx="201168" cy="2011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63140" y="3140964"/>
            <a:ext cx="6446520" cy="384048"/>
            <a:chOff x="0" y="0"/>
            <a:chExt cx="859536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595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7340" y="3771900"/>
            <a:ext cx="7132320" cy="3566160"/>
            <a:chOff x="0" y="0"/>
            <a:chExt cx="9509760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509760" cy="4831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strings challenge | less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Enter the password: 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Access granted!</a:t>
              </a:r>
            </a:p>
            <a:p>
              <a:pPr algn="l">
                <a:lnSpc>
                  <a:spcPts val="3042"/>
                </a:lnSpc>
              </a:pPr>
              <a:r>
                <a:rPr lang="en-US" sz="1950" b="true">
                  <a:solidFill>
                    <a:srgbClr val="D29922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flag{s0m3_h1dd3n_str1ng}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libc.so.6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32620" y="2811780"/>
            <a:ext cx="6858000" cy="548640"/>
            <a:chOff x="0" y="0"/>
            <a:chExt cx="91440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144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What to look for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73768" y="3607308"/>
            <a:ext cx="192024" cy="192024"/>
            <a:chOff x="0" y="0"/>
            <a:chExt cx="256032" cy="2560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944100" y="3497580"/>
            <a:ext cx="6995160" cy="548640"/>
            <a:chOff x="0" y="0"/>
            <a:chExt cx="93268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"flag{", "CTF{", "FLAG"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73768" y="4457700"/>
            <a:ext cx="192024" cy="192024"/>
            <a:chOff x="0" y="0"/>
            <a:chExt cx="256032" cy="2560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944100" y="4347972"/>
            <a:ext cx="6995160" cy="548640"/>
            <a:chOff x="0" y="0"/>
            <a:chExt cx="932688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"password", "secret", "key"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73768" y="5308092"/>
            <a:ext cx="192024" cy="192024"/>
            <a:chOff x="0" y="0"/>
            <a:chExt cx="256032" cy="2560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44100" y="5198364"/>
            <a:ext cx="6995160" cy="548640"/>
            <a:chOff x="0" y="0"/>
            <a:chExt cx="932688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URLs, IP addresses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73768" y="6158484"/>
            <a:ext cx="192024" cy="192024"/>
            <a:chOff x="0" y="0"/>
            <a:chExt cx="256032" cy="2560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944100" y="6048756"/>
            <a:ext cx="6995160" cy="548640"/>
            <a:chOff x="0" y="0"/>
            <a:chExt cx="932688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Error messages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73768" y="7008876"/>
            <a:ext cx="192024" cy="192024"/>
            <a:chOff x="0" y="0"/>
            <a:chExt cx="256032" cy="25603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944100" y="6899148"/>
            <a:ext cx="6995160" cy="548640"/>
            <a:chOff x="0" y="0"/>
            <a:chExt cx="932688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26880" cy="731520"/>
            </a:xfrm>
            <a:custGeom>
              <a:avLst/>
              <a:gdLst/>
              <a:ahLst/>
              <a:cxnLst/>
              <a:rect r="r" b="b" t="t" l="l"/>
              <a:pathLst>
                <a:path h="73152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434" r="0" b="-19843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93268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Function names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08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Exercise: Find the Hidden Flag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Combine both tools to locate a flag in under a minute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802255"/>
            <a:ext cx="15837713" cy="1363218"/>
            <a:chOff x="0" y="0"/>
            <a:chExt cx="21116950" cy="18176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116925" cy="1817624"/>
            </a:xfrm>
            <a:custGeom>
              <a:avLst/>
              <a:gdLst/>
              <a:ahLst/>
              <a:cxnLst/>
              <a:rect r="r" b="b" t="t" l="l"/>
              <a:pathLst>
                <a:path h="1817624" w="2111692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968588" y="0"/>
                  </a:lnTo>
                  <a:cubicBezTo>
                    <a:pt x="21050503" y="0"/>
                    <a:pt x="21116925" y="66421"/>
                    <a:pt x="21116925" y="148336"/>
                  </a:cubicBezTo>
                  <a:lnTo>
                    <a:pt x="21116925" y="1669288"/>
                  </a:lnTo>
                  <a:cubicBezTo>
                    <a:pt x="21116925" y="1751203"/>
                    <a:pt x="21050503" y="1817624"/>
                    <a:pt x="20968588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21904" y="3058096"/>
            <a:ext cx="851535" cy="851535"/>
            <a:chOff x="0" y="0"/>
            <a:chExt cx="1135380" cy="11353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36192" y="3072384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43200" y="2976372"/>
            <a:ext cx="4526280" cy="1028700"/>
            <a:chOff x="0" y="0"/>
            <a:chExt cx="603504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0350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6EDF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Identify the file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06640" y="2976372"/>
            <a:ext cx="9234983" cy="1028700"/>
            <a:chOff x="0" y="0"/>
            <a:chExt cx="1231331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1331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313310">
                  <a:moveTo>
                    <a:pt x="0" y="0"/>
                  </a:moveTo>
                  <a:lnTo>
                    <a:pt x="12313310" y="0"/>
                  </a:lnTo>
                  <a:lnTo>
                    <a:pt x="1231331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923" r="0" b="-1249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231331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Run file challenge to confirm it's an ELF binary and check the architecture.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4915" y="4379595"/>
            <a:ext cx="15837713" cy="1363218"/>
            <a:chOff x="0" y="0"/>
            <a:chExt cx="21116950" cy="18176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116925" cy="1817624"/>
            </a:xfrm>
            <a:custGeom>
              <a:avLst/>
              <a:gdLst/>
              <a:ahLst/>
              <a:cxnLst/>
              <a:rect r="r" b="b" t="t" l="l"/>
              <a:pathLst>
                <a:path h="1817624" w="2111692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968588" y="0"/>
                  </a:lnTo>
                  <a:cubicBezTo>
                    <a:pt x="21050503" y="0"/>
                    <a:pt x="21116925" y="66421"/>
                    <a:pt x="21116925" y="148336"/>
                  </a:cubicBezTo>
                  <a:lnTo>
                    <a:pt x="21116925" y="1669288"/>
                  </a:lnTo>
                  <a:cubicBezTo>
                    <a:pt x="21116925" y="1751203"/>
                    <a:pt x="21050503" y="1817624"/>
                    <a:pt x="20968588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21904" y="4635436"/>
            <a:ext cx="851535" cy="851535"/>
            <a:chOff x="0" y="0"/>
            <a:chExt cx="1135380" cy="11353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536192" y="4649724"/>
            <a:ext cx="822960" cy="822960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43200" y="4553712"/>
            <a:ext cx="4526280" cy="1028700"/>
            <a:chOff x="0" y="0"/>
            <a:chExt cx="603504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60350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6EDF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Extract strings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06640" y="4553712"/>
            <a:ext cx="9234983" cy="1028700"/>
            <a:chOff x="0" y="0"/>
            <a:chExt cx="12313310" cy="1371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31331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313310">
                  <a:moveTo>
                    <a:pt x="0" y="0"/>
                  </a:moveTo>
                  <a:lnTo>
                    <a:pt x="12313310" y="0"/>
                  </a:lnTo>
                  <a:lnTo>
                    <a:pt x="1231331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923" r="0" b="-12492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231331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Run strings challenge to dump readable text embedded in the binary.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4915" y="5956935"/>
            <a:ext cx="15837713" cy="1363218"/>
            <a:chOff x="0" y="0"/>
            <a:chExt cx="21116950" cy="181762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116925" cy="1817624"/>
            </a:xfrm>
            <a:custGeom>
              <a:avLst/>
              <a:gdLst/>
              <a:ahLst/>
              <a:cxnLst/>
              <a:rect r="r" b="b" t="t" l="l"/>
              <a:pathLst>
                <a:path h="1817624" w="2111692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968588" y="0"/>
                  </a:lnTo>
                  <a:cubicBezTo>
                    <a:pt x="21050503" y="0"/>
                    <a:pt x="21116925" y="66421"/>
                    <a:pt x="21116925" y="148336"/>
                  </a:cubicBezTo>
                  <a:lnTo>
                    <a:pt x="21116925" y="1669288"/>
                  </a:lnTo>
                  <a:cubicBezTo>
                    <a:pt x="21116925" y="1751203"/>
                    <a:pt x="21050503" y="1817624"/>
                    <a:pt x="20968588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521904" y="6212776"/>
            <a:ext cx="851535" cy="851535"/>
            <a:chOff x="0" y="0"/>
            <a:chExt cx="1135380" cy="11353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536192" y="6227064"/>
            <a:ext cx="822960" cy="822960"/>
            <a:chOff x="0" y="0"/>
            <a:chExt cx="109728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743200" y="6131052"/>
            <a:ext cx="4526280" cy="1028700"/>
            <a:chOff x="0" y="0"/>
            <a:chExt cx="603504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0350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6EDF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Filter for flags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06640" y="6131052"/>
            <a:ext cx="9234983" cy="1028700"/>
            <a:chOff x="0" y="0"/>
            <a:chExt cx="12313310" cy="1371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31331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313310">
                  <a:moveTo>
                    <a:pt x="0" y="0"/>
                  </a:moveTo>
                  <a:lnTo>
                    <a:pt x="12313310" y="0"/>
                  </a:lnTo>
                  <a:lnTo>
                    <a:pt x="1231331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923" r="0" b="-1249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231331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Pipe into grep: strings challenge | grep -i "flag{"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24915" y="7534275"/>
            <a:ext cx="15837713" cy="1363218"/>
            <a:chOff x="0" y="0"/>
            <a:chExt cx="21116950" cy="181762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116925" cy="1817624"/>
            </a:xfrm>
            <a:custGeom>
              <a:avLst/>
              <a:gdLst/>
              <a:ahLst/>
              <a:cxnLst/>
              <a:rect r="r" b="b" t="t" l="l"/>
              <a:pathLst>
                <a:path h="1817624" w="2111692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968588" y="0"/>
                  </a:lnTo>
                  <a:cubicBezTo>
                    <a:pt x="21050503" y="0"/>
                    <a:pt x="21116925" y="66421"/>
                    <a:pt x="21116925" y="148336"/>
                  </a:cubicBezTo>
                  <a:lnTo>
                    <a:pt x="21116925" y="1669288"/>
                  </a:lnTo>
                  <a:cubicBezTo>
                    <a:pt x="21116925" y="1751203"/>
                    <a:pt x="21050503" y="1817624"/>
                    <a:pt x="20968588" y="1817624"/>
                  </a:cubicBezTo>
                  <a:lnTo>
                    <a:pt x="148336" y="1817624"/>
                  </a:lnTo>
                  <a:cubicBezTo>
                    <a:pt x="66421" y="1817624"/>
                    <a:pt x="0" y="1751203"/>
                    <a:pt x="0" y="166928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521904" y="7790116"/>
            <a:ext cx="851535" cy="851535"/>
            <a:chOff x="0" y="0"/>
            <a:chExt cx="1135380" cy="11353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35380" cy="1135380"/>
            </a:xfrm>
            <a:custGeom>
              <a:avLst/>
              <a:gdLst/>
              <a:ahLst/>
              <a:cxnLst/>
              <a:rect r="r" b="b" t="t" l="l"/>
              <a:pathLst>
                <a:path h="1135380" w="1135380">
                  <a:moveTo>
                    <a:pt x="0" y="567690"/>
                  </a:moveTo>
                  <a:cubicBezTo>
                    <a:pt x="0" y="254127"/>
                    <a:pt x="254127" y="0"/>
                    <a:pt x="567690" y="0"/>
                  </a:cubicBezTo>
                  <a:cubicBezTo>
                    <a:pt x="881253" y="0"/>
                    <a:pt x="1135380" y="254127"/>
                    <a:pt x="1135380" y="567690"/>
                  </a:cubicBezTo>
                  <a:cubicBezTo>
                    <a:pt x="1135380" y="881253"/>
                    <a:pt x="881253" y="1135380"/>
                    <a:pt x="567690" y="1135380"/>
                  </a:cubicBezTo>
                  <a:cubicBezTo>
                    <a:pt x="254127" y="1135380"/>
                    <a:pt x="0" y="881253"/>
                    <a:pt x="0" y="56769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536192" y="7804404"/>
            <a:ext cx="822960" cy="822960"/>
            <a:chOff x="0" y="0"/>
            <a:chExt cx="10972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09728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72"/>
                </a:lnSpc>
              </a:pPr>
              <a:r>
                <a:rPr lang="en-US" sz="306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743200" y="7708392"/>
            <a:ext cx="4526280" cy="1028700"/>
            <a:chOff x="0" y="0"/>
            <a:chExt cx="6035040" cy="1371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0350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03504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6EDF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Submit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406640" y="7708392"/>
            <a:ext cx="9234983" cy="1028700"/>
            <a:chOff x="0" y="0"/>
            <a:chExt cx="12313310" cy="13716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31331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313310">
                  <a:moveTo>
                    <a:pt x="0" y="0"/>
                  </a:moveTo>
                  <a:lnTo>
                    <a:pt x="12313310" y="0"/>
                  </a:lnTo>
                  <a:lnTo>
                    <a:pt x="1231331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923" r="0" b="-12492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231331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Copy the matched flag{...} string into the CTF scoreboard.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09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Tool 3: ltrace command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Purpose — trace library function calls at runtime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939415"/>
            <a:ext cx="7837170" cy="5642610"/>
            <a:chOff x="0" y="0"/>
            <a:chExt cx="10449560" cy="7523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9560" cy="7523480"/>
            </a:xfrm>
            <a:custGeom>
              <a:avLst/>
              <a:gdLst/>
              <a:ahLst/>
              <a:cxnLst/>
              <a:rect r="r" b="b" t="t" l="l"/>
              <a:pathLst>
                <a:path h="7523480" w="10449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0302748" y="0"/>
                  </a:lnTo>
                  <a:cubicBezTo>
                    <a:pt x="10383774" y="0"/>
                    <a:pt x="10449560" y="65659"/>
                    <a:pt x="10449560" y="146812"/>
                  </a:cubicBezTo>
                  <a:lnTo>
                    <a:pt x="10449560" y="7376668"/>
                  </a:lnTo>
                  <a:cubicBezTo>
                    <a:pt x="10449560" y="7457694"/>
                    <a:pt x="10383901" y="7523480"/>
                    <a:pt x="10302748" y="7523480"/>
                  </a:cubicBezTo>
                  <a:lnTo>
                    <a:pt x="146812" y="7523480"/>
                  </a:lnTo>
                  <a:cubicBezTo>
                    <a:pt x="65659" y="7523480"/>
                    <a:pt x="0" y="7457821"/>
                    <a:pt x="0" y="737666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36192" y="3250692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96796" y="32506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3250692"/>
            <a:ext cx="150876" cy="150876"/>
            <a:chOff x="0" y="0"/>
            <a:chExt cx="201168" cy="2011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63140" y="3140964"/>
            <a:ext cx="6446520" cy="384048"/>
            <a:chOff x="0" y="0"/>
            <a:chExt cx="859536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95360" cy="512064"/>
            </a:xfrm>
            <a:custGeom>
              <a:avLst/>
              <a:gdLst/>
              <a:ahLst/>
              <a:cxnLst/>
              <a:rect r="r" b="b" t="t" l="l"/>
              <a:pathLst>
                <a:path h="51206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8595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terminal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7340" y="3771900"/>
            <a:ext cx="7132320" cy="3566160"/>
            <a:chOff x="0" y="0"/>
            <a:chExt cx="9509760" cy="4754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4754880"/>
            </a:xfrm>
            <a:custGeom>
              <a:avLst/>
              <a:gdLst/>
              <a:ahLst/>
              <a:cxnLst/>
              <a:rect r="r" b="b" t="t" l="l"/>
              <a:pathLst>
                <a:path h="4754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9509760" cy="4831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ltrace ./challenge</a:t>
              </a:r>
            </a:p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strlen("S3cr3tP@ss")            = 11</a:t>
              </a:r>
            </a:p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D2992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strcmp("S3cr3tP@ss", input)    = 0</a:t>
              </a:r>
            </a:p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puts("Access granted!")</a:t>
              </a:r>
            </a:p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+++ exited (status 0) +++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23095" y="2939415"/>
            <a:ext cx="7494270" cy="1143762"/>
            <a:chOff x="0" y="0"/>
            <a:chExt cx="9992360" cy="15250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2360" cy="1525016"/>
            </a:xfrm>
            <a:custGeom>
              <a:avLst/>
              <a:gdLst/>
              <a:ahLst/>
              <a:cxnLst/>
              <a:rect r="r" b="b" t="t" l="l"/>
              <a:pathLst>
                <a:path h="1525016" w="9992360">
                  <a:moveTo>
                    <a:pt x="0" y="111633"/>
                  </a:moveTo>
                  <a:cubicBezTo>
                    <a:pt x="0" y="49911"/>
                    <a:pt x="49911" y="0"/>
                    <a:pt x="111633" y="0"/>
                  </a:cubicBezTo>
                  <a:lnTo>
                    <a:pt x="9880727" y="0"/>
                  </a:lnTo>
                  <a:cubicBezTo>
                    <a:pt x="9942322" y="0"/>
                    <a:pt x="9992360" y="49911"/>
                    <a:pt x="9992360" y="111633"/>
                  </a:cubicBezTo>
                  <a:lnTo>
                    <a:pt x="9992360" y="1413383"/>
                  </a:lnTo>
                  <a:cubicBezTo>
                    <a:pt x="9992360" y="1474978"/>
                    <a:pt x="9942449" y="1525016"/>
                    <a:pt x="9880727" y="1525016"/>
                  </a:cubicBezTo>
                  <a:lnTo>
                    <a:pt x="111633" y="1525016"/>
                  </a:lnTo>
                  <a:cubicBezTo>
                    <a:pt x="50038" y="1525016"/>
                    <a:pt x="0" y="1475105"/>
                    <a:pt x="0" y="1413383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06940" y="2948940"/>
            <a:ext cx="2880360" cy="1124712"/>
            <a:chOff x="0" y="0"/>
            <a:chExt cx="3840480" cy="14996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40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840480" cy="1509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strcmp()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550140" y="2948940"/>
            <a:ext cx="4251960" cy="1124712"/>
            <a:chOff x="0" y="0"/>
            <a:chExt cx="5669280" cy="14996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2" r="0" b="-236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669280" cy="1537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String comparison — often reveals passwords!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23095" y="4283583"/>
            <a:ext cx="7494270" cy="1143762"/>
            <a:chOff x="0" y="0"/>
            <a:chExt cx="9992360" cy="15250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92360" cy="1525016"/>
            </a:xfrm>
            <a:custGeom>
              <a:avLst/>
              <a:gdLst/>
              <a:ahLst/>
              <a:cxnLst/>
              <a:rect r="r" b="b" t="t" l="l"/>
              <a:pathLst>
                <a:path h="1525016" w="9992360">
                  <a:moveTo>
                    <a:pt x="0" y="111633"/>
                  </a:moveTo>
                  <a:cubicBezTo>
                    <a:pt x="0" y="49911"/>
                    <a:pt x="49911" y="0"/>
                    <a:pt x="111633" y="0"/>
                  </a:cubicBezTo>
                  <a:lnTo>
                    <a:pt x="9880727" y="0"/>
                  </a:lnTo>
                  <a:cubicBezTo>
                    <a:pt x="9942322" y="0"/>
                    <a:pt x="9992360" y="49911"/>
                    <a:pt x="9992360" y="111633"/>
                  </a:cubicBezTo>
                  <a:lnTo>
                    <a:pt x="9992360" y="1413383"/>
                  </a:lnTo>
                  <a:cubicBezTo>
                    <a:pt x="9992360" y="1474978"/>
                    <a:pt x="9942449" y="1525016"/>
                    <a:pt x="9880727" y="1525016"/>
                  </a:cubicBezTo>
                  <a:lnTo>
                    <a:pt x="111633" y="1525016"/>
                  </a:lnTo>
                  <a:cubicBezTo>
                    <a:pt x="50038" y="1525016"/>
                    <a:pt x="0" y="1475105"/>
                    <a:pt x="0" y="1413383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806940" y="4293108"/>
            <a:ext cx="2880360" cy="1124712"/>
            <a:chOff x="0" y="0"/>
            <a:chExt cx="3840480" cy="14996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40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840480" cy="1509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strlen()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550140" y="4293108"/>
            <a:ext cx="4251960" cy="1124712"/>
            <a:chOff x="0" y="0"/>
            <a:chExt cx="5669280" cy="14996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2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2" r="0" b="-2366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69280" cy="1537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String length checks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23095" y="5627751"/>
            <a:ext cx="7494270" cy="1143762"/>
            <a:chOff x="0" y="0"/>
            <a:chExt cx="9992360" cy="1525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92360" cy="1525016"/>
            </a:xfrm>
            <a:custGeom>
              <a:avLst/>
              <a:gdLst/>
              <a:ahLst/>
              <a:cxnLst/>
              <a:rect r="r" b="b" t="t" l="l"/>
              <a:pathLst>
                <a:path h="1525016" w="9992360">
                  <a:moveTo>
                    <a:pt x="0" y="111633"/>
                  </a:moveTo>
                  <a:cubicBezTo>
                    <a:pt x="0" y="49911"/>
                    <a:pt x="49911" y="0"/>
                    <a:pt x="111633" y="0"/>
                  </a:cubicBezTo>
                  <a:lnTo>
                    <a:pt x="9880727" y="0"/>
                  </a:lnTo>
                  <a:cubicBezTo>
                    <a:pt x="9942322" y="0"/>
                    <a:pt x="9992360" y="49911"/>
                    <a:pt x="9992360" y="111633"/>
                  </a:cubicBezTo>
                  <a:lnTo>
                    <a:pt x="9992360" y="1413383"/>
                  </a:lnTo>
                  <a:cubicBezTo>
                    <a:pt x="9992360" y="1474978"/>
                    <a:pt x="9942449" y="1525016"/>
                    <a:pt x="9880727" y="1525016"/>
                  </a:cubicBezTo>
                  <a:lnTo>
                    <a:pt x="111633" y="1525016"/>
                  </a:lnTo>
                  <a:cubicBezTo>
                    <a:pt x="50038" y="1525016"/>
                    <a:pt x="0" y="1475105"/>
                    <a:pt x="0" y="1413383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06940" y="5637276"/>
            <a:ext cx="2880360" cy="1124712"/>
            <a:chOff x="0" y="0"/>
            <a:chExt cx="3840480" cy="14996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40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840480" cy="1509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memcmp()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550140" y="5637276"/>
            <a:ext cx="4251960" cy="1124712"/>
            <a:chOff x="0" y="0"/>
            <a:chExt cx="5669280" cy="14996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692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2" r="0" b="-236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669280" cy="1537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Memory comparison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23095" y="6971919"/>
            <a:ext cx="7494270" cy="1143762"/>
            <a:chOff x="0" y="0"/>
            <a:chExt cx="9992360" cy="15250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92360" cy="1525016"/>
            </a:xfrm>
            <a:custGeom>
              <a:avLst/>
              <a:gdLst/>
              <a:ahLst/>
              <a:cxnLst/>
              <a:rect r="r" b="b" t="t" l="l"/>
              <a:pathLst>
                <a:path h="1525016" w="9992360">
                  <a:moveTo>
                    <a:pt x="0" y="111633"/>
                  </a:moveTo>
                  <a:cubicBezTo>
                    <a:pt x="0" y="49911"/>
                    <a:pt x="49911" y="0"/>
                    <a:pt x="111633" y="0"/>
                  </a:cubicBezTo>
                  <a:lnTo>
                    <a:pt x="9880727" y="0"/>
                  </a:lnTo>
                  <a:cubicBezTo>
                    <a:pt x="9942322" y="0"/>
                    <a:pt x="9992360" y="49911"/>
                    <a:pt x="9992360" y="111633"/>
                  </a:cubicBezTo>
                  <a:lnTo>
                    <a:pt x="9992360" y="1413383"/>
                  </a:lnTo>
                  <a:cubicBezTo>
                    <a:pt x="9992360" y="1474978"/>
                    <a:pt x="9942449" y="1525016"/>
                    <a:pt x="9880727" y="1525016"/>
                  </a:cubicBezTo>
                  <a:lnTo>
                    <a:pt x="111633" y="1525016"/>
                  </a:lnTo>
                  <a:cubicBezTo>
                    <a:pt x="50038" y="1525016"/>
                    <a:pt x="0" y="1475105"/>
                    <a:pt x="0" y="1413383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806940" y="6981444"/>
            <a:ext cx="2880360" cy="1124712"/>
            <a:chOff x="0" y="0"/>
            <a:chExt cx="3840480" cy="149961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8404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" t="0" r="-9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840480" cy="1509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strncmp()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550140" y="6981444"/>
            <a:ext cx="4251960" cy="1124712"/>
            <a:chOff x="0" y="0"/>
            <a:chExt cx="5669280" cy="14996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69280" cy="1499616"/>
            </a:xfrm>
            <a:custGeom>
              <a:avLst/>
              <a:gdLst/>
              <a:ahLst/>
              <a:cxnLst/>
              <a:rect r="r" b="b" t="t" l="l"/>
              <a:pathLst>
                <a:path h="14996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62" r="0" b="-2366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669280" cy="15377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Limited string compare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3497580"/>
            <a:ext cx="8229600" cy="548640"/>
            <a:chOff x="0" y="0"/>
            <a:chExt cx="10972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SECTION 02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046220"/>
            <a:ext cx="13167360" cy="2194560"/>
            <a:chOff x="0" y="0"/>
            <a:chExt cx="1755648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56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55648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Static Analysis Basics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966460"/>
            <a:ext cx="11658600" cy="685800"/>
            <a:chOff x="0" y="0"/>
            <a:chExt cx="155448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55448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Reading a binary without ever running it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495" y="3414712"/>
            <a:ext cx="2634615" cy="2634615"/>
            <a:chOff x="0" y="0"/>
            <a:chExt cx="3512820" cy="3512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12820" cy="3512820"/>
            </a:xfrm>
            <a:custGeom>
              <a:avLst/>
              <a:gdLst/>
              <a:ahLst/>
              <a:cxnLst/>
              <a:rect r="r" b="b" t="t" l="l"/>
              <a:pathLst>
                <a:path h="3512820" w="3512820">
                  <a:moveTo>
                    <a:pt x="0" y="1756410"/>
                  </a:moveTo>
                  <a:cubicBezTo>
                    <a:pt x="0" y="786384"/>
                    <a:pt x="786384" y="0"/>
                    <a:pt x="1756410" y="0"/>
                  </a:cubicBezTo>
                  <a:cubicBezTo>
                    <a:pt x="2726436" y="0"/>
                    <a:pt x="3512820" y="786384"/>
                    <a:pt x="3512820" y="1756410"/>
                  </a:cubicBezTo>
                  <a:cubicBezTo>
                    <a:pt x="3512820" y="2726436"/>
                    <a:pt x="2726436" y="3512820"/>
                    <a:pt x="1756410" y="3512820"/>
                  </a:cubicBezTo>
                  <a:cubicBezTo>
                    <a:pt x="786384" y="3512820"/>
                    <a:pt x="0" y="2726436"/>
                    <a:pt x="0" y="175641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49783" y="3429000"/>
            <a:ext cx="2606040" cy="2606040"/>
            <a:chOff x="0" y="0"/>
            <a:chExt cx="3474720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74720" cy="3484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27"/>
                </a:lnSpc>
              </a:pPr>
              <a:r>
                <a:rPr lang="en-US" sz="969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66900">
            <a:off x="1215209" y="3282315"/>
            <a:ext cx="1958711" cy="0"/>
          </a:xfrm>
          <a:prstGeom prst="line">
            <a:avLst/>
          </a:prstGeom>
          <a:ln cap="rnd" w="19050">
            <a:solidFill>
              <a:srgbClr val="3FB9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11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Essential Registers (x86-64)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2527935"/>
            <a:ext cx="15837713" cy="1116330"/>
            <a:chOff x="0" y="0"/>
            <a:chExt cx="21116950" cy="1488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116925" cy="1488440"/>
            </a:xfrm>
            <a:custGeom>
              <a:avLst/>
              <a:gdLst/>
              <a:ahLst/>
              <a:cxnLst/>
              <a:rect r="r" b="b" t="t" l="l"/>
              <a:pathLst>
                <a:path h="1488440" w="211169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968081" y="0"/>
                  </a:lnTo>
                  <a:cubicBezTo>
                    <a:pt x="21050250" y="0"/>
                    <a:pt x="21116925" y="66675"/>
                    <a:pt x="21116925" y="148844"/>
                  </a:cubicBezTo>
                  <a:lnTo>
                    <a:pt x="21116925" y="1339596"/>
                  </a:lnTo>
                  <a:cubicBezTo>
                    <a:pt x="21116925" y="1421765"/>
                    <a:pt x="21050250" y="1488440"/>
                    <a:pt x="20968081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577340" y="2537460"/>
            <a:ext cx="4937760" cy="1097280"/>
            <a:chOff x="0" y="0"/>
            <a:chExt cx="658368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5836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RAX · RBX · RCX · RDX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720840" y="2537460"/>
            <a:ext cx="10057943" cy="1097280"/>
            <a:chOff x="0" y="0"/>
            <a:chExt cx="1341059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05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04" r="0" b="-1286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41059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General-purpose registers — calculations, return values, temporary data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3789807"/>
            <a:ext cx="15837713" cy="1116330"/>
            <a:chOff x="0" y="0"/>
            <a:chExt cx="21116950" cy="1488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116925" cy="1488440"/>
            </a:xfrm>
            <a:custGeom>
              <a:avLst/>
              <a:gdLst/>
              <a:ahLst/>
              <a:cxnLst/>
              <a:rect r="r" b="b" t="t" l="l"/>
              <a:pathLst>
                <a:path h="1488440" w="211169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968081" y="0"/>
                  </a:lnTo>
                  <a:cubicBezTo>
                    <a:pt x="21050250" y="0"/>
                    <a:pt x="21116925" y="66675"/>
                    <a:pt x="21116925" y="148844"/>
                  </a:cubicBezTo>
                  <a:lnTo>
                    <a:pt x="21116925" y="1339596"/>
                  </a:lnTo>
                  <a:cubicBezTo>
                    <a:pt x="21116925" y="1421765"/>
                    <a:pt x="21050250" y="1488440"/>
                    <a:pt x="20968081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577340" y="3799332"/>
            <a:ext cx="4937760" cy="1097280"/>
            <a:chOff x="0" y="0"/>
            <a:chExt cx="658368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5836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RSI · RDI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20840" y="3799332"/>
            <a:ext cx="10057943" cy="1097280"/>
            <a:chOff x="0" y="0"/>
            <a:chExt cx="1341059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05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04" r="0" b="-1286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341059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Source / Destination — also used to pass function arguments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4915" y="5051679"/>
            <a:ext cx="15837713" cy="1116330"/>
            <a:chOff x="0" y="0"/>
            <a:chExt cx="21116950" cy="1488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116925" cy="1488440"/>
            </a:xfrm>
            <a:custGeom>
              <a:avLst/>
              <a:gdLst/>
              <a:ahLst/>
              <a:cxnLst/>
              <a:rect r="r" b="b" t="t" l="l"/>
              <a:pathLst>
                <a:path h="1488440" w="211169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968081" y="0"/>
                  </a:lnTo>
                  <a:cubicBezTo>
                    <a:pt x="21050250" y="0"/>
                    <a:pt x="21116925" y="66675"/>
                    <a:pt x="21116925" y="148844"/>
                  </a:cubicBezTo>
                  <a:lnTo>
                    <a:pt x="21116925" y="1339596"/>
                  </a:lnTo>
                  <a:cubicBezTo>
                    <a:pt x="21116925" y="1421765"/>
                    <a:pt x="21050250" y="1488440"/>
                    <a:pt x="20968081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577340" y="5061204"/>
            <a:ext cx="4937760" cy="1097280"/>
            <a:chOff x="0" y="0"/>
            <a:chExt cx="65836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5836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RSP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720840" y="5061204"/>
            <a:ext cx="10057943" cy="1097280"/>
            <a:chOff x="0" y="0"/>
            <a:chExt cx="13410590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05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04" r="0" b="-1286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341059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Stack Pointer — points to the top of the stack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4915" y="6313551"/>
            <a:ext cx="15837713" cy="1116330"/>
            <a:chOff x="0" y="0"/>
            <a:chExt cx="21116950" cy="1488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116925" cy="1488440"/>
            </a:xfrm>
            <a:custGeom>
              <a:avLst/>
              <a:gdLst/>
              <a:ahLst/>
              <a:cxnLst/>
              <a:rect r="r" b="b" t="t" l="l"/>
              <a:pathLst>
                <a:path h="1488440" w="211169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968081" y="0"/>
                  </a:lnTo>
                  <a:cubicBezTo>
                    <a:pt x="21050250" y="0"/>
                    <a:pt x="21116925" y="66675"/>
                    <a:pt x="21116925" y="148844"/>
                  </a:cubicBezTo>
                  <a:lnTo>
                    <a:pt x="21116925" y="1339596"/>
                  </a:lnTo>
                  <a:cubicBezTo>
                    <a:pt x="21116925" y="1421765"/>
                    <a:pt x="21050250" y="1488440"/>
                    <a:pt x="20968081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577340" y="6323076"/>
            <a:ext cx="4937760" cy="1097280"/>
            <a:chOff x="0" y="0"/>
            <a:chExt cx="65836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5836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RBP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20840" y="6323076"/>
            <a:ext cx="10057943" cy="1097280"/>
            <a:chOff x="0" y="0"/>
            <a:chExt cx="1341059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4105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04" r="0" b="-1286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341059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Base Pointer — used to reference local variables in a function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4915" y="7575423"/>
            <a:ext cx="15837713" cy="1116330"/>
            <a:chOff x="0" y="0"/>
            <a:chExt cx="21116950" cy="1488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116925" cy="1488440"/>
            </a:xfrm>
            <a:custGeom>
              <a:avLst/>
              <a:gdLst/>
              <a:ahLst/>
              <a:cxnLst/>
              <a:rect r="r" b="b" t="t" l="l"/>
              <a:pathLst>
                <a:path h="1488440" w="21116925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0968081" y="0"/>
                  </a:lnTo>
                  <a:cubicBezTo>
                    <a:pt x="21050250" y="0"/>
                    <a:pt x="21116925" y="66675"/>
                    <a:pt x="21116925" y="148844"/>
                  </a:cubicBezTo>
                  <a:lnTo>
                    <a:pt x="21116925" y="1339596"/>
                  </a:lnTo>
                  <a:cubicBezTo>
                    <a:pt x="21116925" y="1421765"/>
                    <a:pt x="21050250" y="1488440"/>
                    <a:pt x="20968081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577340" y="7584948"/>
            <a:ext cx="4937760" cy="1097280"/>
            <a:chOff x="0" y="0"/>
            <a:chExt cx="658368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65836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RIP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720840" y="7584948"/>
            <a:ext cx="10057943" cy="1097280"/>
            <a:chOff x="0" y="0"/>
            <a:chExt cx="1341059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41059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3410591">
                  <a:moveTo>
                    <a:pt x="0" y="0"/>
                  </a:moveTo>
                  <a:lnTo>
                    <a:pt x="13410591" y="0"/>
                  </a:lnTo>
                  <a:lnTo>
                    <a:pt x="1341059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04" r="0" b="-12860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341059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Instruction Pointer — points to the next instruction to execute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12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Essential Instructions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2674620"/>
            <a:ext cx="7635011" cy="548640"/>
            <a:chOff x="0" y="0"/>
            <a:chExt cx="10180015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80016" cy="731520"/>
            </a:xfrm>
            <a:custGeom>
              <a:avLst/>
              <a:gdLst/>
              <a:ahLst/>
              <a:cxnLst/>
              <a:rect r="r" b="b" t="t" l="l"/>
              <a:pathLst>
                <a:path h="731520" w="10180016">
                  <a:moveTo>
                    <a:pt x="0" y="0"/>
                  </a:moveTo>
                  <a:lnTo>
                    <a:pt x="10180016" y="0"/>
                  </a:lnTo>
                  <a:lnTo>
                    <a:pt x="101800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158" r="0" b="-22115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18001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Data &amp; Arithmetic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3419475"/>
            <a:ext cx="7654061" cy="1322070"/>
            <a:chOff x="0" y="0"/>
            <a:chExt cx="10205415" cy="1762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08760" y="3566160"/>
            <a:ext cx="7086371" cy="438912"/>
            <a:chOff x="0" y="0"/>
            <a:chExt cx="9448495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mov dest, src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8760" y="4032504"/>
            <a:ext cx="7086371" cy="658368"/>
            <a:chOff x="0" y="0"/>
            <a:chExt cx="9448495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Copy a value from src to dest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4915" y="4900803"/>
            <a:ext cx="7654061" cy="1322070"/>
            <a:chOff x="0" y="0"/>
            <a:chExt cx="10205415" cy="1762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508760" y="5047488"/>
            <a:ext cx="7086371" cy="438912"/>
            <a:chOff x="0" y="0"/>
            <a:chExt cx="9448495" cy="585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push / pop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08760" y="5513832"/>
            <a:ext cx="7086371" cy="658368"/>
            <a:chOff x="0" y="0"/>
            <a:chExt cx="9448495" cy="87782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Push data to the stack / Pop data from the stack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4915" y="6382131"/>
            <a:ext cx="7654061" cy="1322070"/>
            <a:chOff x="0" y="0"/>
            <a:chExt cx="10205415" cy="17627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508760" y="6528816"/>
            <a:ext cx="7086371" cy="438912"/>
            <a:chOff x="0" y="0"/>
            <a:chExt cx="9448495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add / sub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08760" y="6995160"/>
            <a:ext cx="7086371" cy="658368"/>
            <a:chOff x="0" y="0"/>
            <a:chExt cx="9448495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Arithmetic operations (addition / subtraction)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4915" y="7863459"/>
            <a:ext cx="7654061" cy="1322070"/>
            <a:chOff x="0" y="0"/>
            <a:chExt cx="10205415" cy="17627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508760" y="8010144"/>
            <a:ext cx="7086371" cy="438912"/>
            <a:chOff x="0" y="0"/>
            <a:chExt cx="9448495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cmp a, b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08760" y="8476488"/>
            <a:ext cx="7086371" cy="658368"/>
            <a:chOff x="0" y="0"/>
            <a:chExt cx="9448495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Compare two values — sets CPU flags used by jumps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18091" y="2674620"/>
            <a:ext cx="7635011" cy="548640"/>
            <a:chOff x="0" y="0"/>
            <a:chExt cx="10180015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80016" cy="731520"/>
            </a:xfrm>
            <a:custGeom>
              <a:avLst/>
              <a:gdLst/>
              <a:ahLst/>
              <a:cxnLst/>
              <a:rect r="r" b="b" t="t" l="l"/>
              <a:pathLst>
                <a:path h="731520" w="10180016">
                  <a:moveTo>
                    <a:pt x="0" y="0"/>
                  </a:moveTo>
                  <a:lnTo>
                    <a:pt x="10180016" y="0"/>
                  </a:lnTo>
                  <a:lnTo>
                    <a:pt x="101800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158" r="0" b="-22115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0180015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Control Flow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08566" y="3419475"/>
            <a:ext cx="7654061" cy="1322070"/>
            <a:chOff x="0" y="0"/>
            <a:chExt cx="10205415" cy="1762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692411" y="3566160"/>
            <a:ext cx="7086371" cy="438912"/>
            <a:chOff x="0" y="0"/>
            <a:chExt cx="9448495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jmp label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92411" y="4032504"/>
            <a:ext cx="7086371" cy="658368"/>
            <a:chOff x="0" y="0"/>
            <a:chExt cx="9448495" cy="87782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Unconditional jump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08566" y="4900803"/>
            <a:ext cx="7654061" cy="1322070"/>
            <a:chOff x="0" y="0"/>
            <a:chExt cx="10205415" cy="1762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692411" y="5047488"/>
            <a:ext cx="7086371" cy="438912"/>
            <a:chOff x="0" y="0"/>
            <a:chExt cx="9448495" cy="58521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je / jne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92411" y="5513832"/>
            <a:ext cx="7086371" cy="658368"/>
            <a:chOff x="0" y="0"/>
            <a:chExt cx="9448495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Jump if equal / not equal (based on cmp)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08566" y="6382131"/>
            <a:ext cx="7654061" cy="1322070"/>
            <a:chOff x="0" y="0"/>
            <a:chExt cx="10205415" cy="1762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692411" y="6528816"/>
            <a:ext cx="7086371" cy="438912"/>
            <a:chOff x="0" y="0"/>
            <a:chExt cx="9448495" cy="58521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jl / jg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92411" y="6995160"/>
            <a:ext cx="7086371" cy="658368"/>
            <a:chOff x="0" y="0"/>
            <a:chExt cx="9448495" cy="8778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Jump if less / greater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08566" y="7863459"/>
            <a:ext cx="7654061" cy="1322070"/>
            <a:chOff x="0" y="0"/>
            <a:chExt cx="10205415" cy="17627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05466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205466">
                  <a:moveTo>
                    <a:pt x="0" y="111379"/>
                  </a:moveTo>
                  <a:cubicBezTo>
                    <a:pt x="0" y="49784"/>
                    <a:pt x="49784" y="0"/>
                    <a:pt x="111379" y="0"/>
                  </a:cubicBezTo>
                  <a:lnTo>
                    <a:pt x="10094087" y="0"/>
                  </a:lnTo>
                  <a:cubicBezTo>
                    <a:pt x="10155555" y="0"/>
                    <a:pt x="10205466" y="49784"/>
                    <a:pt x="10205466" y="111379"/>
                  </a:cubicBezTo>
                  <a:lnTo>
                    <a:pt x="10205466" y="1651381"/>
                  </a:lnTo>
                  <a:cubicBezTo>
                    <a:pt x="10205466" y="1712849"/>
                    <a:pt x="10155682" y="1762760"/>
                    <a:pt x="10094087" y="1762760"/>
                  </a:cubicBezTo>
                  <a:lnTo>
                    <a:pt x="111379" y="1762760"/>
                  </a:lnTo>
                  <a:cubicBezTo>
                    <a:pt x="49911" y="1762760"/>
                    <a:pt x="0" y="1712976"/>
                    <a:pt x="0" y="165138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692411" y="8010144"/>
            <a:ext cx="7086371" cy="438912"/>
            <a:chOff x="0" y="0"/>
            <a:chExt cx="9448495" cy="58521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448496" cy="585216"/>
            </a:xfrm>
            <a:custGeom>
              <a:avLst/>
              <a:gdLst/>
              <a:ahLst/>
              <a:cxnLst/>
              <a:rect r="r" b="b" t="t" l="l"/>
              <a:pathLst>
                <a:path h="585216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92" r="0" b="-26459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9448495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call / ret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692411" y="8476488"/>
            <a:ext cx="7086371" cy="658368"/>
            <a:chOff x="0" y="0"/>
            <a:chExt cx="9448495" cy="8778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448496" cy="877824"/>
            </a:xfrm>
            <a:custGeom>
              <a:avLst/>
              <a:gdLst/>
              <a:ahLst/>
              <a:cxnLst/>
              <a:rect r="r" b="b" t="t" l="l"/>
              <a:pathLst>
                <a:path h="877824" w="9448496">
                  <a:moveTo>
                    <a:pt x="0" y="0"/>
                  </a:moveTo>
                  <a:lnTo>
                    <a:pt x="9448496" y="0"/>
                  </a:lnTo>
                  <a:lnTo>
                    <a:pt x="94484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28" r="0" b="-15972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448495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Call a function (pushes return address) / return from it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13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Quiz Pratique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Analysez le code assembleur ci-dessous et répondez aux questions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596515"/>
            <a:ext cx="6739890" cy="5985510"/>
            <a:chOff x="0" y="0"/>
            <a:chExt cx="8986520" cy="7980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86520" cy="7980680"/>
            </a:xfrm>
            <a:custGeom>
              <a:avLst/>
              <a:gdLst/>
              <a:ahLst/>
              <a:cxnLst/>
              <a:rect r="r" b="b" t="t" l="l"/>
              <a:pathLst>
                <a:path h="7980680" w="898652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8839708" y="0"/>
                  </a:lnTo>
                  <a:cubicBezTo>
                    <a:pt x="8920734" y="0"/>
                    <a:pt x="8986520" y="65659"/>
                    <a:pt x="8986520" y="146812"/>
                  </a:cubicBezTo>
                  <a:lnTo>
                    <a:pt x="8986520" y="7833868"/>
                  </a:lnTo>
                  <a:cubicBezTo>
                    <a:pt x="8986520" y="7914894"/>
                    <a:pt x="8920861" y="7980680"/>
                    <a:pt x="8839708" y="7980680"/>
                  </a:cubicBezTo>
                  <a:lnTo>
                    <a:pt x="146812" y="7980680"/>
                  </a:lnTo>
                  <a:cubicBezTo>
                    <a:pt x="65659" y="7980680"/>
                    <a:pt x="0" y="7915021"/>
                    <a:pt x="0" y="783386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536192" y="2907792"/>
            <a:ext cx="150876" cy="150876"/>
            <a:chOff x="0" y="0"/>
            <a:chExt cx="201168" cy="2011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96796" y="2907792"/>
            <a:ext cx="150876" cy="150876"/>
            <a:chOff x="0" y="0"/>
            <a:chExt cx="201168" cy="2011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57400" y="2907792"/>
            <a:ext cx="150876" cy="150876"/>
            <a:chOff x="0" y="0"/>
            <a:chExt cx="201168" cy="2011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63140" y="2798064"/>
            <a:ext cx="5349240" cy="384048"/>
            <a:chOff x="0" y="0"/>
            <a:chExt cx="713232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132320" cy="512064"/>
            </a:xfrm>
            <a:custGeom>
              <a:avLst/>
              <a:gdLst/>
              <a:ahLst/>
              <a:cxnLst/>
              <a:rect r="r" b="b" t="t" l="l"/>
              <a:pathLst>
                <a:path h="512064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13232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asm.s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7340" y="3429000"/>
            <a:ext cx="6035040" cy="438912"/>
            <a:chOff x="0" y="0"/>
            <a:chExt cx="8046720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mov rax, 5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77340" y="3922776"/>
            <a:ext cx="6035040" cy="438912"/>
            <a:chOff x="0" y="0"/>
            <a:chExt cx="8046720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mov rbx, 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77340" y="4416552"/>
            <a:ext cx="6035040" cy="438912"/>
            <a:chOff x="0" y="0"/>
            <a:chExt cx="8046720" cy="5852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add rax, rbx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77340" y="4910328"/>
            <a:ext cx="6035040" cy="438912"/>
            <a:chOff x="0" y="0"/>
            <a:chExt cx="8046720" cy="5852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push rax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77340" y="5404104"/>
            <a:ext cx="6035040" cy="438912"/>
            <a:chOff x="0" y="0"/>
            <a:chExt cx="8046720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pop rdx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77340" y="5897880"/>
            <a:ext cx="6035040" cy="438912"/>
            <a:chOff x="0" y="0"/>
            <a:chExt cx="8046720" cy="58521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cmp rdx, rcx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77340" y="6391656"/>
            <a:ext cx="6035040" cy="438912"/>
            <a:chOff x="0" y="0"/>
            <a:chExt cx="8046720" cy="5852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jl less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77340" y="6885432"/>
            <a:ext cx="6035040" cy="438912"/>
            <a:chOff x="0" y="0"/>
            <a:chExt cx="804672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je equal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577340" y="7379208"/>
            <a:ext cx="6035040" cy="438912"/>
            <a:chOff x="0" y="0"/>
            <a:chExt cx="8046720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jg greater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77340" y="7872984"/>
            <a:ext cx="6035040" cy="438912"/>
            <a:chOff x="0" y="0"/>
            <a:chExt cx="8046720" cy="58521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046720" cy="585216"/>
            </a:xfrm>
            <a:custGeom>
              <a:avLst/>
              <a:gdLst/>
              <a:ahLst/>
              <a:cxnLst/>
              <a:rect r="r" b="b" t="t" l="l"/>
              <a:pathLst>
                <a:path h="585216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04672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mov rdi, rax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88655" y="2665095"/>
            <a:ext cx="8797290" cy="869442"/>
            <a:chOff x="0" y="0"/>
            <a:chExt cx="11729720" cy="11592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8572500" y="2674620"/>
            <a:ext cx="8229600" cy="850392"/>
            <a:chOff x="0" y="0"/>
            <a:chExt cx="1097280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1) Quelle est la valeur de RAX après l'instruction add rax, rbx ?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88655" y="3638931"/>
            <a:ext cx="8797290" cy="869442"/>
            <a:chOff x="0" y="0"/>
            <a:chExt cx="11729720" cy="115925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572500" y="3648456"/>
            <a:ext cx="8229600" cy="850392"/>
            <a:chOff x="0" y="0"/>
            <a:chExt cx="10972800" cy="113385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2) Quelle valeur est stockée sur la pile par push rax ?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88655" y="4612767"/>
            <a:ext cx="8797290" cy="869442"/>
            <a:chOff x="0" y="0"/>
            <a:chExt cx="11729720" cy="115925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572500" y="4622292"/>
            <a:ext cx="8229600" cy="850392"/>
            <a:chOff x="0" y="0"/>
            <a:chExt cx="10972800" cy="11338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3) Quelle valeur se retrouve dans RDX après le pop rdx ?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88655" y="5586603"/>
            <a:ext cx="8797290" cy="869442"/>
            <a:chOff x="0" y="0"/>
            <a:chExt cx="11729720" cy="11592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8591550" y="5596128"/>
            <a:ext cx="8229600" cy="850392"/>
            <a:chOff x="0" y="0"/>
            <a:chExt cx="10972800" cy="11338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4) Quelle comparaison est faite par cmp rdx, rcx ?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88655" y="6560439"/>
            <a:ext cx="8797290" cy="869442"/>
            <a:chOff x="0" y="0"/>
            <a:chExt cx="11729720" cy="1159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8572500" y="6569964"/>
            <a:ext cx="8229600" cy="850392"/>
            <a:chOff x="0" y="0"/>
            <a:chExt cx="10972800" cy="11338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5) Quel label sera exécuté ? (less / equal / greater)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288655" y="7534275"/>
            <a:ext cx="8797290" cy="869442"/>
            <a:chOff x="0" y="0"/>
            <a:chExt cx="11729720" cy="11592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729720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729720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1617579" y="0"/>
                  </a:lnTo>
                  <a:cubicBezTo>
                    <a:pt x="11679555" y="0"/>
                    <a:pt x="11729720" y="50165"/>
                    <a:pt x="11729720" y="112141"/>
                  </a:cubicBezTo>
                  <a:lnTo>
                    <a:pt x="11729720" y="1047115"/>
                  </a:lnTo>
                  <a:cubicBezTo>
                    <a:pt x="11729720" y="1109091"/>
                    <a:pt x="11679555" y="1159256"/>
                    <a:pt x="11617579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C222B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8572500" y="7543800"/>
            <a:ext cx="8229600" cy="850392"/>
            <a:chOff x="0" y="0"/>
            <a:chExt cx="10972800" cy="113385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564" r="0" b="-13856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09728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6) Quelle valeur finale est placée dans RDI avant la fin du programme 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14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3497580"/>
            <a:ext cx="8229600" cy="548640"/>
            <a:chOff x="0" y="0"/>
            <a:chExt cx="1097280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SECTION 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046220"/>
            <a:ext cx="13167360" cy="2194560"/>
            <a:chOff x="0" y="0"/>
            <a:chExt cx="17556480" cy="2926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56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55648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Dynamic Analysis Basics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5966460"/>
            <a:ext cx="11658600" cy="685800"/>
            <a:chOff x="0" y="0"/>
            <a:chExt cx="155448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55448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Watching a binary think, one instruction at a time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35495" y="3414712"/>
            <a:ext cx="2634615" cy="2634615"/>
            <a:chOff x="0" y="0"/>
            <a:chExt cx="3512820" cy="35128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512820" cy="3512820"/>
            </a:xfrm>
            <a:custGeom>
              <a:avLst/>
              <a:gdLst/>
              <a:ahLst/>
              <a:cxnLst/>
              <a:rect r="r" b="b" t="t" l="l"/>
              <a:pathLst>
                <a:path h="3512820" w="3512820">
                  <a:moveTo>
                    <a:pt x="0" y="1756410"/>
                  </a:moveTo>
                  <a:cubicBezTo>
                    <a:pt x="0" y="786384"/>
                    <a:pt x="786384" y="0"/>
                    <a:pt x="1756410" y="0"/>
                  </a:cubicBezTo>
                  <a:cubicBezTo>
                    <a:pt x="2726436" y="0"/>
                    <a:pt x="3512820" y="786384"/>
                    <a:pt x="3512820" y="1756410"/>
                  </a:cubicBezTo>
                  <a:cubicBezTo>
                    <a:pt x="3512820" y="2726436"/>
                    <a:pt x="2726436" y="3512820"/>
                    <a:pt x="1756410" y="3512820"/>
                  </a:cubicBezTo>
                  <a:cubicBezTo>
                    <a:pt x="786384" y="3512820"/>
                    <a:pt x="0" y="2726436"/>
                    <a:pt x="0" y="175641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349783" y="3429000"/>
            <a:ext cx="2606040" cy="2606040"/>
            <a:chOff x="0" y="0"/>
            <a:chExt cx="3474720" cy="3474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74720" cy="3484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27"/>
                </a:lnSpc>
              </a:pPr>
              <a:r>
                <a:rPr lang="en-US" sz="969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DA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66900">
            <a:off x="1215209" y="3282315"/>
            <a:ext cx="1958711" cy="0"/>
          </a:xfrm>
          <a:prstGeom prst="line">
            <a:avLst/>
          </a:prstGeom>
          <a:ln cap="rnd" w="19050">
            <a:solidFill>
              <a:srgbClr val="3FB95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15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Pwndbg / GDB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GDB runs the binary under control; pwndbg adds a CTF-friendly UI on top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2674620"/>
            <a:ext cx="9189720" cy="3291840"/>
            <a:chOff x="0" y="0"/>
            <a:chExt cx="12252960" cy="4389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529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5" r="0" b="-4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12252960" cy="4484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27"/>
                </a:lnSpc>
              </a:pPr>
              <a:r>
                <a:rPr lang="en-US" sz="23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GDB (GNU Debugger) lets you run a binary step by step, set breakpoints, and inspect memory, registers, and the stack as the program executes. Pwndbg is a GDB plugin built for exploitation and CTF work — it adds colorized context, stack/heap visualization, and extra commands on top of vanilla GDB.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61872" y="6281928"/>
            <a:ext cx="192024" cy="192024"/>
            <a:chOff x="0" y="0"/>
            <a:chExt cx="256032" cy="2560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" y="6172200"/>
            <a:ext cx="8641080" cy="548640"/>
            <a:chOff x="0" y="0"/>
            <a:chExt cx="1152144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152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Set breakpoints &amp; step through execution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1872" y="6967728"/>
            <a:ext cx="192024" cy="192024"/>
            <a:chOff x="0" y="0"/>
            <a:chExt cx="256032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74495" y="6858000"/>
            <a:ext cx="8641080" cy="548640"/>
            <a:chOff x="0" y="0"/>
            <a:chExt cx="1152144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152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Inspect registers, stack, and memory live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1872" y="7653528"/>
            <a:ext cx="192024" cy="192024"/>
            <a:chOff x="0" y="0"/>
            <a:chExt cx="256032" cy="256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5920" y="7543800"/>
            <a:ext cx="8641080" cy="548640"/>
            <a:chOff x="0" y="0"/>
            <a:chExt cx="1152144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152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Colorized, always-visible context (pwndbg)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1872" y="8339328"/>
            <a:ext cx="192024" cy="192024"/>
            <a:chOff x="0" y="0"/>
            <a:chExt cx="256032" cy="256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645920" y="8229600"/>
            <a:ext cx="8641080" cy="548640"/>
            <a:chOff x="0" y="0"/>
            <a:chExt cx="1152144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152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Essential for cracking password/serial checks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963275" y="2665095"/>
            <a:ext cx="6122670" cy="6808470"/>
            <a:chOff x="0" y="0"/>
            <a:chExt cx="8163560" cy="9077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63560" cy="9077960"/>
            </a:xfrm>
            <a:custGeom>
              <a:avLst/>
              <a:gdLst/>
              <a:ahLst/>
              <a:cxnLst/>
              <a:rect r="r" b="b" t="t" l="l"/>
              <a:pathLst>
                <a:path h="9077960" w="816356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8016748" y="0"/>
                  </a:lnTo>
                  <a:cubicBezTo>
                    <a:pt x="8097774" y="0"/>
                    <a:pt x="8163560" y="65659"/>
                    <a:pt x="8163560" y="146812"/>
                  </a:cubicBezTo>
                  <a:lnTo>
                    <a:pt x="8163560" y="8931148"/>
                  </a:lnTo>
                  <a:cubicBezTo>
                    <a:pt x="8163560" y="9012174"/>
                    <a:pt x="8097901" y="9077960"/>
                    <a:pt x="8016748" y="9077960"/>
                  </a:cubicBezTo>
                  <a:lnTo>
                    <a:pt x="146812" y="9077960"/>
                  </a:lnTo>
                  <a:cubicBezTo>
                    <a:pt x="65659" y="9077960"/>
                    <a:pt x="0" y="9012301"/>
                    <a:pt x="0" y="893114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1274552" y="2976372"/>
            <a:ext cx="150876" cy="150876"/>
            <a:chOff x="0" y="0"/>
            <a:chExt cx="201168" cy="2011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F8514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35156" y="2976372"/>
            <a:ext cx="150876" cy="150876"/>
            <a:chOff x="0" y="0"/>
            <a:chExt cx="201168" cy="2011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D2992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95760" y="2976372"/>
            <a:ext cx="150876" cy="150876"/>
            <a:chOff x="0" y="0"/>
            <a:chExt cx="201168" cy="2011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1168" cy="201168"/>
            </a:xfrm>
            <a:custGeom>
              <a:avLst/>
              <a:gdLst/>
              <a:ahLst/>
              <a:cxnLst/>
              <a:rect r="r" b="b" t="t" l="l"/>
              <a:pathLst>
                <a:path h="201168" w="201168">
                  <a:moveTo>
                    <a:pt x="0" y="100584"/>
                  </a:moveTo>
                  <a:cubicBezTo>
                    <a:pt x="0" y="45085"/>
                    <a:pt x="45085" y="0"/>
                    <a:pt x="100584" y="0"/>
                  </a:cubicBezTo>
                  <a:cubicBezTo>
                    <a:pt x="156083" y="0"/>
                    <a:pt x="201168" y="45085"/>
                    <a:pt x="201168" y="100584"/>
                  </a:cubicBezTo>
                  <a:cubicBezTo>
                    <a:pt x="201168" y="156083"/>
                    <a:pt x="156083" y="201168"/>
                    <a:pt x="100584" y="201168"/>
                  </a:cubicBezTo>
                  <a:cubicBezTo>
                    <a:pt x="45085" y="201168"/>
                    <a:pt x="0" y="156083"/>
                    <a:pt x="0" y="100584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01500" y="2866644"/>
            <a:ext cx="4732020" cy="384048"/>
            <a:chOff x="0" y="0"/>
            <a:chExt cx="6309360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09360" cy="512064"/>
            </a:xfrm>
            <a:custGeom>
              <a:avLst/>
              <a:gdLst/>
              <a:ahLst/>
              <a:cxnLst/>
              <a:rect r="r" b="b" t="t" l="l"/>
              <a:pathLst>
                <a:path h="512064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083" r="0" b="-19008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30936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384280" y="3497580"/>
            <a:ext cx="5349240" cy="5760720"/>
            <a:chOff x="0" y="0"/>
            <a:chExt cx="7132320" cy="7680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3232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680960"/>
                  </a:lnTo>
                  <a:lnTo>
                    <a:pt x="0" y="7680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173" t="0" r="-8817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7132320" cy="7757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3FB95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$ gdb ./challenge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pwndbg&gt; break main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Breakpoint 1 at 0x1189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pwndbg&gt; run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pwndbg&gt; info registers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RAX  0x7fffffffe3a0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pwndbg&gt; x/8xb $rsp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pwndbg&gt; continue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16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1218233"/>
            <a:chOff x="0" y="0"/>
            <a:chExt cx="22371710" cy="16243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624310"/>
            </a:xfrm>
            <a:custGeom>
              <a:avLst/>
              <a:gdLst/>
              <a:ahLst/>
              <a:cxnLst/>
              <a:rect r="r" b="b" t="t" l="l"/>
              <a:pathLst>
                <a:path h="162431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624310"/>
                  </a:lnTo>
                  <a:lnTo>
                    <a:pt x="0" y="16243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962" r="0" b="-20777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633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GDB Cheat Sheet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The commands you'll reach for in almost every session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2665095"/>
            <a:ext cx="7654061" cy="924306"/>
            <a:chOff x="0" y="0"/>
            <a:chExt cx="10205415" cy="12324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81328" y="2674620"/>
            <a:ext cx="3359401" cy="905256"/>
            <a:chOff x="0" y="0"/>
            <a:chExt cx="4479201" cy="1207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run / 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746546" y="2674620"/>
            <a:ext cx="3970210" cy="905256"/>
            <a:chOff x="0" y="0"/>
            <a:chExt cx="5293614" cy="12070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Start the program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4915" y="3762375"/>
            <a:ext cx="7654061" cy="924306"/>
            <a:chOff x="0" y="0"/>
            <a:chExt cx="10205415" cy="1232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81328" y="3771900"/>
            <a:ext cx="3359401" cy="905256"/>
            <a:chOff x="0" y="0"/>
            <a:chExt cx="4479201" cy="12070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break / b &lt;loc&gt;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746546" y="3771900"/>
            <a:ext cx="3970210" cy="905256"/>
            <a:chOff x="0" y="0"/>
            <a:chExt cx="5293614" cy="1207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Set a breakpoint at a function or address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4915" y="4859655"/>
            <a:ext cx="7654061" cy="924306"/>
            <a:chOff x="0" y="0"/>
            <a:chExt cx="10205415" cy="12324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81328" y="4869180"/>
            <a:ext cx="3359401" cy="905256"/>
            <a:chOff x="0" y="0"/>
            <a:chExt cx="4479201" cy="12070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next / 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746546" y="4869180"/>
            <a:ext cx="3970210" cy="905256"/>
            <a:chOff x="0" y="0"/>
            <a:chExt cx="5293614" cy="12070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Step over the current line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4915" y="5956935"/>
            <a:ext cx="7654061" cy="924306"/>
            <a:chOff x="0" y="0"/>
            <a:chExt cx="10205415" cy="12324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81328" y="5966460"/>
            <a:ext cx="3359401" cy="905256"/>
            <a:chOff x="0" y="0"/>
            <a:chExt cx="4479201" cy="1207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step / 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4746546" y="5966460"/>
            <a:ext cx="3970210" cy="905256"/>
            <a:chOff x="0" y="0"/>
            <a:chExt cx="5293614" cy="12070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Step into a function call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915" y="7054215"/>
            <a:ext cx="7654061" cy="924306"/>
            <a:chOff x="0" y="0"/>
            <a:chExt cx="10205415" cy="12324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81328" y="7063740"/>
            <a:ext cx="3359401" cy="905256"/>
            <a:chOff x="0" y="0"/>
            <a:chExt cx="4479201" cy="12070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continue / c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746546" y="7063740"/>
            <a:ext cx="3970210" cy="905256"/>
            <a:chOff x="0" y="0"/>
            <a:chExt cx="5293614" cy="12070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Resume execution until next breakpoint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08566" y="2665095"/>
            <a:ext cx="7654061" cy="924306"/>
            <a:chOff x="0" y="0"/>
            <a:chExt cx="10205415" cy="12324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64979" y="2674620"/>
            <a:ext cx="3359401" cy="905256"/>
            <a:chOff x="0" y="0"/>
            <a:chExt cx="4479201" cy="120700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info registers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930197" y="2674620"/>
            <a:ext cx="3970210" cy="905256"/>
            <a:chOff x="0" y="0"/>
            <a:chExt cx="5293614" cy="12070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Show all register values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08566" y="3762375"/>
            <a:ext cx="7654061" cy="924306"/>
            <a:chOff x="0" y="0"/>
            <a:chExt cx="10205415" cy="12324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664979" y="3771900"/>
            <a:ext cx="3359401" cy="905256"/>
            <a:chOff x="0" y="0"/>
            <a:chExt cx="4479201" cy="12070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x/8xb $rsp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930197" y="3771900"/>
            <a:ext cx="3970210" cy="905256"/>
            <a:chOff x="0" y="0"/>
            <a:chExt cx="5293614" cy="12070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Examine 8 bytes at the stack pointer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08566" y="4859655"/>
            <a:ext cx="7654061" cy="924306"/>
            <a:chOff x="0" y="0"/>
            <a:chExt cx="10205415" cy="12324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664979" y="4869180"/>
            <a:ext cx="3359401" cy="905256"/>
            <a:chOff x="0" y="0"/>
            <a:chExt cx="4479201" cy="120700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disas &lt;func&gt;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930197" y="4869180"/>
            <a:ext cx="3970210" cy="905256"/>
            <a:chOff x="0" y="0"/>
            <a:chExt cx="5293614" cy="12070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Disassemble a function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408566" y="5956935"/>
            <a:ext cx="7654061" cy="924306"/>
            <a:chOff x="0" y="0"/>
            <a:chExt cx="10205415" cy="12324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9664979" y="5966460"/>
            <a:ext cx="3359401" cy="905256"/>
            <a:chOff x="0" y="0"/>
            <a:chExt cx="4479201" cy="120700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backtrace / bt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930197" y="5966460"/>
            <a:ext cx="3970210" cy="905256"/>
            <a:chOff x="0" y="0"/>
            <a:chExt cx="5293614" cy="12070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Show the call stack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08566" y="7054215"/>
            <a:ext cx="7654061" cy="924306"/>
            <a:chOff x="0" y="0"/>
            <a:chExt cx="10205415" cy="123240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05339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05339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093325" y="0"/>
                  </a:lnTo>
                  <a:cubicBezTo>
                    <a:pt x="10155174" y="0"/>
                    <a:pt x="10205339" y="50165"/>
                    <a:pt x="10205339" y="112014"/>
                  </a:cubicBezTo>
                  <a:lnTo>
                    <a:pt x="10205339" y="1120394"/>
                  </a:lnTo>
                  <a:cubicBezTo>
                    <a:pt x="10205339" y="1182243"/>
                    <a:pt x="10155174" y="1232408"/>
                    <a:pt x="10093325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664979" y="7063740"/>
            <a:ext cx="3359401" cy="905256"/>
            <a:chOff x="0" y="0"/>
            <a:chExt cx="4479201" cy="12070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479206" cy="1207008"/>
            </a:xfrm>
            <a:custGeom>
              <a:avLst/>
              <a:gdLst/>
              <a:ahLst/>
              <a:cxnLst/>
              <a:rect r="r" b="b" t="t" l="l"/>
              <a:pathLst>
                <a:path h="1207008" w="4479206">
                  <a:moveTo>
                    <a:pt x="0" y="0"/>
                  </a:moveTo>
                  <a:lnTo>
                    <a:pt x="4479206" y="0"/>
                  </a:lnTo>
                  <a:lnTo>
                    <a:pt x="447920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8" r="0" b="-2230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4479201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print / p &lt;expr&gt;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30197" y="7063740"/>
            <a:ext cx="3970210" cy="905256"/>
            <a:chOff x="0" y="0"/>
            <a:chExt cx="5293614" cy="120700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936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5293608">
                  <a:moveTo>
                    <a:pt x="0" y="0"/>
                  </a:moveTo>
                  <a:lnTo>
                    <a:pt x="5293608" y="0"/>
                  </a:lnTo>
                  <a:lnTo>
                    <a:pt x="529360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56" r="0" b="-3545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5293614" cy="1226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Evaluate and print an expression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18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IDA &amp; Ghidra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1481328"/>
            <a:ext cx="16778783" cy="548640"/>
            <a:chOff x="0" y="0"/>
            <a:chExt cx="2237171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37171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From assembly to readable pseudocode — decompilers speed everything up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0152" y="2660333"/>
            <a:ext cx="7595006" cy="6063615"/>
            <a:chOff x="0" y="0"/>
            <a:chExt cx="10126675" cy="8084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26725" cy="8084820"/>
            </a:xfrm>
            <a:custGeom>
              <a:avLst/>
              <a:gdLst/>
              <a:ahLst/>
              <a:cxnLst/>
              <a:rect r="r" b="b" t="t" l="l"/>
              <a:pathLst>
                <a:path h="8084820" w="1012672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9942957" y="0"/>
                  </a:lnTo>
                  <a:cubicBezTo>
                    <a:pt x="10044430" y="0"/>
                    <a:pt x="10126725" y="82296"/>
                    <a:pt x="10126725" y="183769"/>
                  </a:cubicBezTo>
                  <a:lnTo>
                    <a:pt x="10126725" y="7901051"/>
                  </a:lnTo>
                  <a:cubicBezTo>
                    <a:pt x="10126725" y="8002524"/>
                    <a:pt x="10044430" y="8084820"/>
                    <a:pt x="9942957" y="8084820"/>
                  </a:cubicBezTo>
                  <a:lnTo>
                    <a:pt x="183769" y="8084820"/>
                  </a:lnTo>
                  <a:cubicBezTo>
                    <a:pt x="82296" y="8084820"/>
                    <a:pt x="0" y="8002524"/>
                    <a:pt x="0" y="7901051"/>
                  </a:cubicBezTo>
                  <a:close/>
                </a:path>
              </a:pathLst>
            </a:custGeom>
            <a:solidFill>
              <a:srgbClr val="161B22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00212" y="3140392"/>
            <a:ext cx="988695" cy="988695"/>
            <a:chOff x="0" y="0"/>
            <a:chExt cx="1318260" cy="13182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8260" cy="1318260"/>
            </a:xfrm>
            <a:custGeom>
              <a:avLst/>
              <a:gdLst/>
              <a:ahLst/>
              <a:cxnLst/>
              <a:rect r="r" b="b" t="t" l="l"/>
              <a:pathLst>
                <a:path h="1318260" w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4500" y="315468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84"/>
                </a:lnSpc>
              </a:pPr>
              <a:r>
                <a:rPr lang="en-US" sz="357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48940" y="3154680"/>
            <a:ext cx="5509031" cy="822960"/>
            <a:chOff x="0" y="0"/>
            <a:chExt cx="7345375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45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45376">
                  <a:moveTo>
                    <a:pt x="0" y="0"/>
                  </a:moveTo>
                  <a:lnTo>
                    <a:pt x="7345376" y="0"/>
                  </a:lnTo>
                  <a:lnTo>
                    <a:pt x="7345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36" r="0" b="-8043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7345375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Ghidra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83080" y="4581144"/>
            <a:ext cx="178308" cy="178308"/>
            <a:chOff x="0" y="0"/>
            <a:chExt cx="237744" cy="2377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125980" y="4457700"/>
            <a:ext cx="6194831" cy="685800"/>
            <a:chOff x="0" y="0"/>
            <a:chExt cx="8259775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Free &amp; open-source (NSA)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83080" y="5472684"/>
            <a:ext cx="178308" cy="178308"/>
            <a:chOff x="0" y="0"/>
            <a:chExt cx="237744" cy="2377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125980" y="5349240"/>
            <a:ext cx="6194831" cy="685800"/>
            <a:chOff x="0" y="0"/>
            <a:chExt cx="8259775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Built-in decompiler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83080" y="6364224"/>
            <a:ext cx="178308" cy="178308"/>
            <a:chOff x="0" y="0"/>
            <a:chExt cx="237744" cy="2377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125980" y="6240780"/>
            <a:ext cx="6194831" cy="685800"/>
            <a:chOff x="0" y="0"/>
            <a:chExt cx="8259775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Strong scripting (Java/Python)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83080" y="7255764"/>
            <a:ext cx="178308" cy="178308"/>
            <a:chOff x="0" y="0"/>
            <a:chExt cx="237744" cy="2377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3FB95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125980" y="7132320"/>
            <a:ext cx="6194831" cy="685800"/>
            <a:chOff x="0" y="0"/>
            <a:chExt cx="8259775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Great for large binaries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72384" y="2660333"/>
            <a:ext cx="7595006" cy="6063615"/>
            <a:chOff x="0" y="0"/>
            <a:chExt cx="10126675" cy="80848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26725" cy="8084820"/>
            </a:xfrm>
            <a:custGeom>
              <a:avLst/>
              <a:gdLst/>
              <a:ahLst/>
              <a:cxnLst/>
              <a:rect r="r" b="b" t="t" l="l"/>
              <a:pathLst>
                <a:path h="8084820" w="10126725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9942957" y="0"/>
                  </a:lnTo>
                  <a:cubicBezTo>
                    <a:pt x="10044430" y="0"/>
                    <a:pt x="10126725" y="82296"/>
                    <a:pt x="10126725" y="183769"/>
                  </a:cubicBezTo>
                  <a:lnTo>
                    <a:pt x="10126725" y="7901051"/>
                  </a:lnTo>
                  <a:cubicBezTo>
                    <a:pt x="10126725" y="8002524"/>
                    <a:pt x="10044430" y="8084820"/>
                    <a:pt x="9942957" y="8084820"/>
                  </a:cubicBezTo>
                  <a:lnTo>
                    <a:pt x="183769" y="8084820"/>
                  </a:lnTo>
                  <a:cubicBezTo>
                    <a:pt x="82296" y="8084820"/>
                    <a:pt x="0" y="8002524"/>
                    <a:pt x="0" y="7901051"/>
                  </a:cubicBezTo>
                  <a:close/>
                </a:path>
              </a:pathLst>
            </a:custGeom>
            <a:solidFill>
              <a:srgbClr val="161B22"/>
            </a:solidFill>
            <a:ln w="28575" cap="sq">
              <a:solidFill>
                <a:srgbClr val="58A6F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952444" y="3140392"/>
            <a:ext cx="988695" cy="988695"/>
            <a:chOff x="0" y="0"/>
            <a:chExt cx="1318260" cy="13182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18260" cy="1318260"/>
            </a:xfrm>
            <a:custGeom>
              <a:avLst/>
              <a:gdLst/>
              <a:ahLst/>
              <a:cxnLst/>
              <a:rect r="r" b="b" t="t" l="l"/>
              <a:pathLst>
                <a:path h="1318260" w="1318260">
                  <a:moveTo>
                    <a:pt x="0" y="659130"/>
                  </a:moveTo>
                  <a:cubicBezTo>
                    <a:pt x="0" y="295148"/>
                    <a:pt x="295148" y="0"/>
                    <a:pt x="659130" y="0"/>
                  </a:cubicBezTo>
                  <a:cubicBezTo>
                    <a:pt x="1023112" y="0"/>
                    <a:pt x="1318260" y="295148"/>
                    <a:pt x="1318260" y="659130"/>
                  </a:cubicBezTo>
                  <a:cubicBezTo>
                    <a:pt x="1318260" y="1023112"/>
                    <a:pt x="1023112" y="1318260"/>
                    <a:pt x="659130" y="1318260"/>
                  </a:cubicBezTo>
                  <a:cubicBezTo>
                    <a:pt x="295148" y="1318260"/>
                    <a:pt x="0" y="1023112"/>
                    <a:pt x="0" y="65913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58A6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966731" y="3154680"/>
            <a:ext cx="960120" cy="960120"/>
            <a:chOff x="0" y="0"/>
            <a:chExt cx="1280160" cy="1280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84"/>
                </a:lnSpc>
              </a:pPr>
              <a:r>
                <a:rPr lang="en-US" sz="357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201171" y="3154680"/>
            <a:ext cx="5509031" cy="822960"/>
            <a:chOff x="0" y="0"/>
            <a:chExt cx="7345375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45376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45376">
                  <a:moveTo>
                    <a:pt x="0" y="0"/>
                  </a:moveTo>
                  <a:lnTo>
                    <a:pt x="7345376" y="0"/>
                  </a:lnTo>
                  <a:lnTo>
                    <a:pt x="734537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36" r="0" b="-8043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7345375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IDA Free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035311" y="4581144"/>
            <a:ext cx="178308" cy="178308"/>
            <a:chOff x="0" y="0"/>
            <a:chExt cx="237744" cy="2377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378211" y="4457700"/>
            <a:ext cx="6194831" cy="685800"/>
            <a:chOff x="0" y="0"/>
            <a:chExt cx="8259775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Industry-standard disassembler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35311" y="5472684"/>
            <a:ext cx="178308" cy="178308"/>
            <a:chOff x="0" y="0"/>
            <a:chExt cx="237744" cy="2377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378211" y="5349240"/>
            <a:ext cx="6194831" cy="685800"/>
            <a:chOff x="0" y="0"/>
            <a:chExt cx="8259775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Free tier (no decompiler)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035311" y="6364224"/>
            <a:ext cx="178308" cy="178308"/>
            <a:chOff x="0" y="0"/>
            <a:chExt cx="237744" cy="2377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378211" y="6240780"/>
            <a:ext cx="6194831" cy="685800"/>
            <a:chOff x="0" y="0"/>
            <a:chExt cx="8259775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Fast, polished navigation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035311" y="7255764"/>
            <a:ext cx="178308" cy="178308"/>
            <a:chOff x="0" y="0"/>
            <a:chExt cx="237744" cy="2377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37744" cy="237744"/>
            </a:xfrm>
            <a:custGeom>
              <a:avLst/>
              <a:gdLst/>
              <a:ahLst/>
              <a:cxnLst/>
              <a:rect r="r" b="b" t="t" l="l"/>
              <a:pathLst>
                <a:path h="237744" w="237744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cubicBezTo>
                    <a:pt x="184531" y="0"/>
                    <a:pt x="237744" y="53213"/>
                    <a:pt x="237744" y="118872"/>
                  </a:cubicBezTo>
                  <a:cubicBezTo>
                    <a:pt x="237744" y="184531"/>
                    <a:pt x="184531" y="237744"/>
                    <a:pt x="118872" y="237744"/>
                  </a:cubicBezTo>
                  <a:cubicBezTo>
                    <a:pt x="53213" y="237744"/>
                    <a:pt x="0" y="184531"/>
                    <a:pt x="0" y="118872"/>
                  </a:cubicBezTo>
                  <a:close/>
                </a:path>
              </a:pathLst>
            </a:custGeom>
            <a:solidFill>
              <a:srgbClr val="58A6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0378211" y="7132320"/>
            <a:ext cx="6194831" cy="685800"/>
            <a:chOff x="0" y="0"/>
            <a:chExt cx="8259775" cy="914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259776" cy="914400"/>
            </a:xfrm>
            <a:custGeom>
              <a:avLst/>
              <a:gdLst/>
              <a:ahLst/>
              <a:cxnLst/>
              <a:rect r="r" b="b" t="t" l="l"/>
              <a:pathLst>
                <a:path h="914400" w="8259776">
                  <a:moveTo>
                    <a:pt x="0" y="0"/>
                  </a:moveTo>
                  <a:lnTo>
                    <a:pt x="8259776" y="0"/>
                  </a:lnTo>
                  <a:lnTo>
                    <a:pt x="825977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008" r="0" b="-12600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8259775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Huge community &amp; plugins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19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Ghidra Shortcuts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2665095"/>
            <a:ext cx="3665106" cy="869442"/>
            <a:chOff x="0" y="0"/>
            <a:chExt cx="4886808" cy="1159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" y="2674620"/>
            <a:ext cx="1458420" cy="850392"/>
            <a:chOff x="0" y="0"/>
            <a:chExt cx="1944560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65784" y="2674620"/>
            <a:ext cx="2041789" cy="850392"/>
            <a:chOff x="0" y="0"/>
            <a:chExt cx="2722385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Go to address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3693795"/>
            <a:ext cx="3665106" cy="869442"/>
            <a:chOff x="0" y="0"/>
            <a:chExt cx="4886808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26464" y="3703320"/>
            <a:ext cx="1458420" cy="850392"/>
            <a:chOff x="0" y="0"/>
            <a:chExt cx="1944560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765784" y="3703320"/>
            <a:ext cx="2041789" cy="850392"/>
            <a:chOff x="0" y="0"/>
            <a:chExt cx="2722385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Go to entry point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4915" y="4722495"/>
            <a:ext cx="3665106" cy="869442"/>
            <a:chOff x="0" y="0"/>
            <a:chExt cx="4886808" cy="11592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26464" y="4732020"/>
            <a:ext cx="1458420" cy="850392"/>
            <a:chOff x="0" y="0"/>
            <a:chExt cx="1944560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765784" y="4732020"/>
            <a:ext cx="2041789" cy="850392"/>
            <a:chOff x="0" y="0"/>
            <a:chExt cx="2722385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Rename label/function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4915" y="5751195"/>
            <a:ext cx="3665106" cy="869442"/>
            <a:chOff x="0" y="0"/>
            <a:chExt cx="4886808" cy="1159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6464" y="5760720"/>
            <a:ext cx="1458420" cy="850392"/>
            <a:chOff x="0" y="0"/>
            <a:chExt cx="1944560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;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765784" y="5760720"/>
            <a:ext cx="2041789" cy="850392"/>
            <a:chOff x="0" y="0"/>
            <a:chExt cx="2722385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Add comment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282451" y="2665095"/>
            <a:ext cx="3665106" cy="869442"/>
            <a:chOff x="0" y="0"/>
            <a:chExt cx="4886808" cy="11592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484000" y="2674620"/>
            <a:ext cx="1458420" cy="850392"/>
            <a:chOff x="0" y="0"/>
            <a:chExt cx="1944560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Ctrl+/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6823319" y="2674620"/>
            <a:ext cx="2041789" cy="850392"/>
            <a:chOff x="0" y="0"/>
            <a:chExt cx="2722385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Add plate comment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282451" y="3693795"/>
            <a:ext cx="3665106" cy="869442"/>
            <a:chOff x="0" y="0"/>
            <a:chExt cx="4886808" cy="11592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484000" y="3703320"/>
            <a:ext cx="1458420" cy="850392"/>
            <a:chOff x="0" y="0"/>
            <a:chExt cx="1944560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823319" y="3703320"/>
            <a:ext cx="2041789" cy="850392"/>
            <a:chOff x="0" y="0"/>
            <a:chExt cx="2722385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Set data type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282451" y="4722495"/>
            <a:ext cx="3665106" cy="869442"/>
            <a:chOff x="0" y="0"/>
            <a:chExt cx="4886808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484000" y="4732020"/>
            <a:ext cx="1458420" cy="850392"/>
            <a:chOff x="0" y="0"/>
            <a:chExt cx="1944560" cy="11338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23319" y="4732020"/>
            <a:ext cx="2041789" cy="850392"/>
            <a:chOff x="0" y="0"/>
            <a:chExt cx="2722385" cy="11338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Disassemble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282451" y="5751195"/>
            <a:ext cx="3665106" cy="869442"/>
            <a:chOff x="0" y="0"/>
            <a:chExt cx="4886808" cy="11592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5484000" y="5760720"/>
            <a:ext cx="1458420" cy="850392"/>
            <a:chOff x="0" y="0"/>
            <a:chExt cx="1944560" cy="11338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823319" y="5760720"/>
            <a:ext cx="2041789" cy="850392"/>
            <a:chOff x="0" y="0"/>
            <a:chExt cx="2722385" cy="11338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Clear code/data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39986" y="2665095"/>
            <a:ext cx="3665106" cy="869442"/>
            <a:chOff x="0" y="0"/>
            <a:chExt cx="4886808" cy="1159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541535" y="2674620"/>
            <a:ext cx="1458420" cy="850392"/>
            <a:chOff x="0" y="0"/>
            <a:chExt cx="1944560" cy="11338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880855" y="2674620"/>
            <a:ext cx="2041789" cy="850392"/>
            <a:chOff x="0" y="0"/>
            <a:chExt cx="2722385" cy="11338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Create pointer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39986" y="3693795"/>
            <a:ext cx="3665106" cy="869442"/>
            <a:chOff x="0" y="0"/>
            <a:chExt cx="4886808" cy="11592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9541535" y="3703320"/>
            <a:ext cx="1458420" cy="850392"/>
            <a:chOff x="0" y="0"/>
            <a:chExt cx="1944560" cy="113385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880855" y="3703320"/>
            <a:ext cx="2041789" cy="850392"/>
            <a:chOff x="0" y="0"/>
            <a:chExt cx="2722385" cy="11338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Edit function signature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339986" y="4722495"/>
            <a:ext cx="3665106" cy="869442"/>
            <a:chOff x="0" y="0"/>
            <a:chExt cx="4886808" cy="11592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9541535" y="4732020"/>
            <a:ext cx="1458420" cy="850392"/>
            <a:chOff x="0" y="0"/>
            <a:chExt cx="1944560" cy="11338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880855" y="4732020"/>
            <a:ext cx="2041789" cy="850392"/>
            <a:chOff x="0" y="0"/>
            <a:chExt cx="2722385" cy="11338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Retype variable (decompiler)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339986" y="5751195"/>
            <a:ext cx="3665106" cy="869442"/>
            <a:chOff x="0" y="0"/>
            <a:chExt cx="4886808" cy="115925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541535" y="5760720"/>
            <a:ext cx="1458420" cy="850392"/>
            <a:chOff x="0" y="0"/>
            <a:chExt cx="1944560" cy="113385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880855" y="5760720"/>
            <a:ext cx="2041789" cy="850392"/>
            <a:chOff x="0" y="0"/>
            <a:chExt cx="2722385" cy="113385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Create function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3397522" y="2665095"/>
            <a:ext cx="3665106" cy="869442"/>
            <a:chOff x="0" y="0"/>
            <a:chExt cx="4886808" cy="115925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599071" y="2674620"/>
            <a:ext cx="1458420" cy="850392"/>
            <a:chOff x="0" y="0"/>
            <a:chExt cx="1944560" cy="113385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Ctrl+F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938391" y="2674620"/>
            <a:ext cx="2041789" cy="850392"/>
            <a:chOff x="0" y="0"/>
            <a:chExt cx="2722385" cy="113385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Find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397522" y="3693795"/>
            <a:ext cx="3665106" cy="869442"/>
            <a:chOff x="0" y="0"/>
            <a:chExt cx="4886808" cy="115925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599071" y="3703320"/>
            <a:ext cx="1458420" cy="850392"/>
            <a:chOff x="0" y="0"/>
            <a:chExt cx="1944560" cy="11338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Ctrl+Shift+E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938391" y="3703320"/>
            <a:ext cx="2041789" cy="850392"/>
            <a:chOff x="0" y="0"/>
            <a:chExt cx="2722385" cy="11338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Search for strings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397522" y="4722495"/>
            <a:ext cx="3665106" cy="869442"/>
            <a:chOff x="0" y="0"/>
            <a:chExt cx="4886808" cy="11592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599071" y="4732020"/>
            <a:ext cx="1458420" cy="850392"/>
            <a:chOff x="0" y="0"/>
            <a:chExt cx="1944560" cy="113385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X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4938391" y="4732020"/>
            <a:ext cx="2041789" cy="850392"/>
            <a:chOff x="0" y="0"/>
            <a:chExt cx="2722385" cy="113385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Show references (xrefs)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13397522" y="5751195"/>
            <a:ext cx="3665106" cy="869442"/>
            <a:chOff x="0" y="0"/>
            <a:chExt cx="4886808" cy="11592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8867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48867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774565" y="0"/>
                  </a:lnTo>
                  <a:cubicBezTo>
                    <a:pt x="4836541" y="0"/>
                    <a:pt x="4886706" y="50165"/>
                    <a:pt x="4886706" y="112141"/>
                  </a:cubicBezTo>
                  <a:lnTo>
                    <a:pt x="4886706" y="1047115"/>
                  </a:lnTo>
                  <a:cubicBezTo>
                    <a:pt x="4886706" y="1109091"/>
                    <a:pt x="4836541" y="1159256"/>
                    <a:pt x="47745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13599071" y="5760720"/>
            <a:ext cx="1458420" cy="850392"/>
            <a:chOff x="0" y="0"/>
            <a:chExt cx="1944560" cy="113385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445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1944564">
                  <a:moveTo>
                    <a:pt x="0" y="0"/>
                  </a:moveTo>
                  <a:lnTo>
                    <a:pt x="1944564" y="0"/>
                  </a:lnTo>
                  <a:lnTo>
                    <a:pt x="19445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12" t="0" r="-24812" b="0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194456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Space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4938391" y="5760720"/>
            <a:ext cx="2041789" cy="850392"/>
            <a:chOff x="0" y="0"/>
            <a:chExt cx="2722385" cy="113385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722388" cy="1133856"/>
            </a:xfrm>
            <a:custGeom>
              <a:avLst/>
              <a:gdLst/>
              <a:ahLst/>
              <a:cxnLst/>
              <a:rect r="r" b="b" t="t" l="l"/>
              <a:pathLst>
                <a:path h="1133856" w="2722388">
                  <a:moveTo>
                    <a:pt x="0" y="0"/>
                  </a:moveTo>
                  <a:lnTo>
                    <a:pt x="2722388" y="0"/>
                  </a:lnTo>
                  <a:lnTo>
                    <a:pt x="272238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7" t="0" r="-3437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2722385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Toggle listing/graph view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20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IDA Free — Navigation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2665095"/>
            <a:ext cx="7722641" cy="869442"/>
            <a:chOff x="0" y="0"/>
            <a:chExt cx="10296855" cy="1159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" y="2674620"/>
            <a:ext cx="3081433" cy="850392"/>
            <a:chOff x="0" y="0"/>
            <a:chExt cx="4108577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69949" y="2674620"/>
            <a:ext cx="4314006" cy="850392"/>
            <a:chOff x="0" y="0"/>
            <a:chExt cx="5752008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Go to address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3693795"/>
            <a:ext cx="7722641" cy="869442"/>
            <a:chOff x="0" y="0"/>
            <a:chExt cx="10296855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26464" y="3703320"/>
            <a:ext cx="3081433" cy="850392"/>
            <a:chOff x="0" y="0"/>
            <a:chExt cx="4108577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Enter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69949" y="3703320"/>
            <a:ext cx="4314006" cy="850392"/>
            <a:chOff x="0" y="0"/>
            <a:chExt cx="5752008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Follow reference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4915" y="4722495"/>
            <a:ext cx="7722641" cy="869442"/>
            <a:chOff x="0" y="0"/>
            <a:chExt cx="10296855" cy="11592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26464" y="4732020"/>
            <a:ext cx="3081433" cy="850392"/>
            <a:chOff x="0" y="0"/>
            <a:chExt cx="4108577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Esc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469949" y="4732020"/>
            <a:ext cx="4314006" cy="850392"/>
            <a:chOff x="0" y="0"/>
            <a:chExt cx="5752008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Go back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24915" y="5751195"/>
            <a:ext cx="7722641" cy="869442"/>
            <a:chOff x="0" y="0"/>
            <a:chExt cx="10296855" cy="1159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6464" y="5760720"/>
            <a:ext cx="3081433" cy="850392"/>
            <a:chOff x="0" y="0"/>
            <a:chExt cx="4108577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Ctrl+Enter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69949" y="5760720"/>
            <a:ext cx="4314006" cy="850392"/>
            <a:chOff x="0" y="0"/>
            <a:chExt cx="5752008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Go forward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39986" y="2665095"/>
            <a:ext cx="7722641" cy="869442"/>
            <a:chOff x="0" y="0"/>
            <a:chExt cx="10296855" cy="11592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541535" y="2674620"/>
            <a:ext cx="3081433" cy="850392"/>
            <a:chOff x="0" y="0"/>
            <a:chExt cx="4108577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X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85021" y="2674620"/>
            <a:ext cx="4314006" cy="850392"/>
            <a:chOff x="0" y="0"/>
            <a:chExt cx="5752008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Cross-references 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339986" y="3693795"/>
            <a:ext cx="7722641" cy="869442"/>
            <a:chOff x="0" y="0"/>
            <a:chExt cx="10296855" cy="11592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541535" y="3703320"/>
            <a:ext cx="3081433" cy="850392"/>
            <a:chOff x="0" y="0"/>
            <a:chExt cx="4108577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Ctrl+X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585021" y="3703320"/>
            <a:ext cx="4314006" cy="850392"/>
            <a:chOff x="0" y="0"/>
            <a:chExt cx="5752008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Cross-references from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39986" y="4722495"/>
            <a:ext cx="7722641" cy="869442"/>
            <a:chOff x="0" y="0"/>
            <a:chExt cx="10296855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96779" cy="1159256"/>
            </a:xfrm>
            <a:custGeom>
              <a:avLst/>
              <a:gdLst/>
              <a:ahLst/>
              <a:cxnLst/>
              <a:rect r="r" b="b" t="t" l="l"/>
              <a:pathLst>
                <a:path h="1159256" w="10296779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10184638" y="0"/>
                  </a:lnTo>
                  <a:cubicBezTo>
                    <a:pt x="10246614" y="0"/>
                    <a:pt x="10296779" y="50165"/>
                    <a:pt x="10296779" y="112141"/>
                  </a:cubicBezTo>
                  <a:lnTo>
                    <a:pt x="10296779" y="1047115"/>
                  </a:lnTo>
                  <a:cubicBezTo>
                    <a:pt x="10296779" y="1109091"/>
                    <a:pt x="10246614" y="1159256"/>
                    <a:pt x="10184638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541535" y="4732020"/>
            <a:ext cx="3081433" cy="850392"/>
            <a:chOff x="0" y="0"/>
            <a:chExt cx="4108577" cy="11338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08582" cy="1133856"/>
            </a:xfrm>
            <a:custGeom>
              <a:avLst/>
              <a:gdLst/>
              <a:ahLst/>
              <a:cxnLst/>
              <a:rect r="r" b="b" t="t" l="l"/>
              <a:pathLst>
                <a:path h="1133856" w="4108582">
                  <a:moveTo>
                    <a:pt x="0" y="0"/>
                  </a:moveTo>
                  <a:lnTo>
                    <a:pt x="4108582" y="0"/>
                  </a:lnTo>
                  <a:lnTo>
                    <a:pt x="410858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4" r="0" b="-2060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108577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Space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585021" y="4732020"/>
            <a:ext cx="4314006" cy="850392"/>
            <a:chOff x="0" y="0"/>
            <a:chExt cx="5752008" cy="11338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52014" cy="1133856"/>
            </a:xfrm>
            <a:custGeom>
              <a:avLst/>
              <a:gdLst/>
              <a:ahLst/>
              <a:cxnLst/>
              <a:rect r="r" b="b" t="t" l="l"/>
              <a:pathLst>
                <a:path h="1133856" w="5752014">
                  <a:moveTo>
                    <a:pt x="0" y="0"/>
                  </a:moveTo>
                  <a:lnTo>
                    <a:pt x="5752014" y="0"/>
                  </a:lnTo>
                  <a:lnTo>
                    <a:pt x="575201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46" r="0" b="-4884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5752008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Toggle graph/text view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21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IDA Free — Analysis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4915" y="2665095"/>
            <a:ext cx="5017618" cy="869442"/>
            <a:chOff x="0" y="0"/>
            <a:chExt cx="6690157" cy="1159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26464" y="2674620"/>
            <a:ext cx="1999431" cy="850392"/>
            <a:chOff x="0" y="0"/>
            <a:chExt cx="2665908" cy="1133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33836" y="2674620"/>
            <a:ext cx="2799197" cy="850392"/>
            <a:chOff x="0" y="0"/>
            <a:chExt cx="3732263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Rename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4915" y="3693795"/>
            <a:ext cx="5017618" cy="869442"/>
            <a:chOff x="0" y="0"/>
            <a:chExt cx="6690157" cy="11592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26464" y="3703320"/>
            <a:ext cx="1999431" cy="850392"/>
            <a:chOff x="0" y="0"/>
            <a:chExt cx="2665908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;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333836" y="3703320"/>
            <a:ext cx="2799197" cy="850392"/>
            <a:chOff x="0" y="0"/>
            <a:chExt cx="3732263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Add comment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4915" y="4722495"/>
            <a:ext cx="5017618" cy="869442"/>
            <a:chOff x="0" y="0"/>
            <a:chExt cx="6690157" cy="11592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26464" y="4732020"/>
            <a:ext cx="1999431" cy="850392"/>
            <a:chOff x="0" y="0"/>
            <a:chExt cx="2665908" cy="1133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: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333836" y="4732020"/>
            <a:ext cx="2799197" cy="850392"/>
            <a:chOff x="0" y="0"/>
            <a:chExt cx="3732263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Add repeatable comment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34963" y="2665095"/>
            <a:ext cx="5017618" cy="869442"/>
            <a:chOff x="0" y="0"/>
            <a:chExt cx="6690157" cy="11592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6836512" y="2674620"/>
            <a:ext cx="1999431" cy="850392"/>
            <a:chOff x="0" y="0"/>
            <a:chExt cx="2665908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43883" y="2674620"/>
            <a:ext cx="2799197" cy="850392"/>
            <a:chOff x="0" y="0"/>
            <a:chExt cx="3732263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Change type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634963" y="3693795"/>
            <a:ext cx="5017618" cy="869442"/>
            <a:chOff x="0" y="0"/>
            <a:chExt cx="6690157" cy="11592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6836512" y="3703320"/>
            <a:ext cx="1999431" cy="850392"/>
            <a:chOff x="0" y="0"/>
            <a:chExt cx="2665908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743883" y="3703320"/>
            <a:ext cx="2799197" cy="850392"/>
            <a:chOff x="0" y="0"/>
            <a:chExt cx="3732263" cy="11338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Define as data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634963" y="4722495"/>
            <a:ext cx="5017618" cy="869442"/>
            <a:chOff x="0" y="0"/>
            <a:chExt cx="6690157" cy="11592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836512" y="4732020"/>
            <a:ext cx="1999431" cy="850392"/>
            <a:chOff x="0" y="0"/>
            <a:chExt cx="2665908" cy="11338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743883" y="4732020"/>
            <a:ext cx="2799197" cy="850392"/>
            <a:chOff x="0" y="0"/>
            <a:chExt cx="3732263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Define as code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45010" y="2665095"/>
            <a:ext cx="5017618" cy="869442"/>
            <a:chOff x="0" y="0"/>
            <a:chExt cx="6690157" cy="11592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246559" y="2674620"/>
            <a:ext cx="1999431" cy="850392"/>
            <a:chOff x="0" y="0"/>
            <a:chExt cx="2665908" cy="113385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153931" y="2674620"/>
            <a:ext cx="2799197" cy="850392"/>
            <a:chOff x="0" y="0"/>
            <a:chExt cx="3732263" cy="11338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Undefine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045010" y="3693795"/>
            <a:ext cx="5017618" cy="869442"/>
            <a:chOff x="0" y="0"/>
            <a:chExt cx="6690157" cy="11592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246559" y="3703320"/>
            <a:ext cx="1999431" cy="850392"/>
            <a:chOff x="0" y="0"/>
            <a:chExt cx="2665908" cy="11338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153931" y="3703320"/>
            <a:ext cx="2799197" cy="850392"/>
            <a:chOff x="0" y="0"/>
            <a:chExt cx="3732263" cy="11338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Create function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045010" y="4722495"/>
            <a:ext cx="5017618" cy="869442"/>
            <a:chOff x="0" y="0"/>
            <a:chExt cx="6690157" cy="1159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690106" cy="1159256"/>
            </a:xfrm>
            <a:custGeom>
              <a:avLst/>
              <a:gdLst/>
              <a:ahLst/>
              <a:cxnLst/>
              <a:rect r="r" b="b" t="t" l="l"/>
              <a:pathLst>
                <a:path h="1159256" w="6690106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6577965" y="0"/>
                  </a:lnTo>
                  <a:cubicBezTo>
                    <a:pt x="6639941" y="0"/>
                    <a:pt x="6690106" y="50165"/>
                    <a:pt x="6690106" y="112141"/>
                  </a:cubicBezTo>
                  <a:lnTo>
                    <a:pt x="6690106" y="1047115"/>
                  </a:lnTo>
                  <a:cubicBezTo>
                    <a:pt x="6690106" y="1109091"/>
                    <a:pt x="6639941" y="1159256"/>
                    <a:pt x="6577965" y="1159256"/>
                  </a:cubicBezTo>
                  <a:lnTo>
                    <a:pt x="112141" y="1159256"/>
                  </a:lnTo>
                  <a:cubicBezTo>
                    <a:pt x="50165" y="1159256"/>
                    <a:pt x="0" y="1109091"/>
                    <a:pt x="0" y="1047115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246559" y="4732020"/>
            <a:ext cx="1999431" cy="850392"/>
            <a:chOff x="0" y="0"/>
            <a:chExt cx="2665908" cy="11338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665902" cy="1133856"/>
            </a:xfrm>
            <a:custGeom>
              <a:avLst/>
              <a:gdLst/>
              <a:ahLst/>
              <a:cxnLst/>
              <a:rect r="r" b="b" t="t" l="l"/>
              <a:pathLst>
                <a:path h="1133856" w="2665902">
                  <a:moveTo>
                    <a:pt x="0" y="0"/>
                  </a:moveTo>
                  <a:lnTo>
                    <a:pt x="2665902" y="0"/>
                  </a:lnTo>
                  <a:lnTo>
                    <a:pt x="266590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69" t="0" r="-4569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665908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Alt+P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153931" y="4732020"/>
            <a:ext cx="2799197" cy="850392"/>
            <a:chOff x="0" y="0"/>
            <a:chExt cx="3732263" cy="113385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732264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2264">
                  <a:moveTo>
                    <a:pt x="0" y="0"/>
                  </a:moveTo>
                  <a:lnTo>
                    <a:pt x="3732264" y="0"/>
                  </a:lnTo>
                  <a:lnTo>
                    <a:pt x="3732264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8" r="0" b="-14138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3732263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Edit function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3898423" y="9710928"/>
            <a:ext cx="3840480" cy="411480"/>
            <a:chOff x="0" y="0"/>
            <a:chExt cx="512064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0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5120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SecuriNtes_FST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9710928"/>
            <a:ext cx="1920240" cy="411480"/>
            <a:chOff x="0" y="0"/>
            <a:chExt cx="256032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60320" cy="548640"/>
            </a:xfrm>
            <a:custGeom>
              <a:avLst/>
              <a:gdLst/>
              <a:ahLst/>
              <a:cxnLst/>
              <a:rect r="r" b="b" t="t" l="l"/>
              <a:pathLst>
                <a:path h="5486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56032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B949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22 / 23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576072"/>
            <a:ext cx="16778783" cy="960120"/>
            <a:chOff x="0" y="0"/>
            <a:chExt cx="2237171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7171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514" r="0" b="-290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7171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 </a:t>
              </a:r>
              <a:r>
                <a:rPr lang="en-US" sz="45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IDA Free — View &amp; Search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2674620"/>
            <a:ext cx="7680960" cy="548640"/>
            <a:chOff x="0" y="0"/>
            <a:chExt cx="102412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View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4915" y="3282315"/>
            <a:ext cx="7700010" cy="924306"/>
            <a:chOff x="0" y="0"/>
            <a:chExt cx="10266680" cy="12324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6668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6668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154666" y="0"/>
                  </a:lnTo>
                  <a:cubicBezTo>
                    <a:pt x="10216515" y="0"/>
                    <a:pt x="10266680" y="50165"/>
                    <a:pt x="10266680" y="112014"/>
                  </a:cubicBezTo>
                  <a:lnTo>
                    <a:pt x="10266680" y="1120394"/>
                  </a:lnTo>
                  <a:cubicBezTo>
                    <a:pt x="10266680" y="1182243"/>
                    <a:pt x="10216515" y="1232408"/>
                    <a:pt x="1015466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81328" y="3291840"/>
            <a:ext cx="2611526" cy="905256"/>
            <a:chOff x="0" y="0"/>
            <a:chExt cx="3482035" cy="1207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8203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82036">
                  <a:moveTo>
                    <a:pt x="0" y="0"/>
                  </a:moveTo>
                  <a:lnTo>
                    <a:pt x="3482036" y="0"/>
                  </a:lnTo>
                  <a:lnTo>
                    <a:pt x="348203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" r="0" b="-62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482035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F5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99586" y="3291840"/>
            <a:ext cx="4608576" cy="905256"/>
            <a:chOff x="0" y="0"/>
            <a:chExt cx="6144768" cy="12070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44768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144768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Pseudocode (decompiler)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4915" y="4379595"/>
            <a:ext cx="7700010" cy="924306"/>
            <a:chOff x="0" y="0"/>
            <a:chExt cx="10266680" cy="12324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6668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6668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154666" y="0"/>
                  </a:lnTo>
                  <a:cubicBezTo>
                    <a:pt x="10216515" y="0"/>
                    <a:pt x="10266680" y="50165"/>
                    <a:pt x="10266680" y="112014"/>
                  </a:cubicBezTo>
                  <a:lnTo>
                    <a:pt x="10266680" y="1120394"/>
                  </a:lnTo>
                  <a:cubicBezTo>
                    <a:pt x="10266680" y="1182243"/>
                    <a:pt x="10216515" y="1232408"/>
                    <a:pt x="1015466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81328" y="4389120"/>
            <a:ext cx="2611526" cy="905256"/>
            <a:chOff x="0" y="0"/>
            <a:chExt cx="3482035" cy="12070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8203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82036">
                  <a:moveTo>
                    <a:pt x="0" y="0"/>
                  </a:moveTo>
                  <a:lnTo>
                    <a:pt x="3482036" y="0"/>
                  </a:lnTo>
                  <a:lnTo>
                    <a:pt x="348203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" r="0" b="-621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482035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Shift+F3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99586" y="4389120"/>
            <a:ext cx="4608576" cy="905256"/>
            <a:chOff x="0" y="0"/>
            <a:chExt cx="6144768" cy="1207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44768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6144768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Functions window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4915" y="5476875"/>
            <a:ext cx="7700010" cy="924306"/>
            <a:chOff x="0" y="0"/>
            <a:chExt cx="10266680" cy="12324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6668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6668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154666" y="0"/>
                  </a:lnTo>
                  <a:cubicBezTo>
                    <a:pt x="10216515" y="0"/>
                    <a:pt x="10266680" y="50165"/>
                    <a:pt x="10266680" y="112014"/>
                  </a:cubicBezTo>
                  <a:lnTo>
                    <a:pt x="10266680" y="1120394"/>
                  </a:lnTo>
                  <a:cubicBezTo>
                    <a:pt x="10266680" y="1182243"/>
                    <a:pt x="10216515" y="1232408"/>
                    <a:pt x="1015466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81328" y="5486400"/>
            <a:ext cx="2611526" cy="905256"/>
            <a:chOff x="0" y="0"/>
            <a:chExt cx="3482035" cy="12070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8203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82036">
                  <a:moveTo>
                    <a:pt x="0" y="0"/>
                  </a:moveTo>
                  <a:lnTo>
                    <a:pt x="3482036" y="0"/>
                  </a:lnTo>
                  <a:lnTo>
                    <a:pt x="348203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" r="0" b="-62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482035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Shift+F12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999586" y="5486400"/>
            <a:ext cx="4608576" cy="905256"/>
            <a:chOff x="0" y="0"/>
            <a:chExt cx="6144768" cy="12070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44768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6144768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Strings window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4915" y="6574155"/>
            <a:ext cx="7700010" cy="924306"/>
            <a:chOff x="0" y="0"/>
            <a:chExt cx="10266680" cy="12324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6668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6668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154666" y="0"/>
                  </a:lnTo>
                  <a:cubicBezTo>
                    <a:pt x="10216515" y="0"/>
                    <a:pt x="10266680" y="50165"/>
                    <a:pt x="10266680" y="112014"/>
                  </a:cubicBezTo>
                  <a:lnTo>
                    <a:pt x="10266680" y="1120394"/>
                  </a:lnTo>
                  <a:cubicBezTo>
                    <a:pt x="10266680" y="1182243"/>
                    <a:pt x="10216515" y="1232408"/>
                    <a:pt x="1015466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81328" y="6583680"/>
            <a:ext cx="2611526" cy="905256"/>
            <a:chOff x="0" y="0"/>
            <a:chExt cx="3482035" cy="1207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8203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82036">
                  <a:moveTo>
                    <a:pt x="0" y="0"/>
                  </a:moveTo>
                  <a:lnTo>
                    <a:pt x="3482036" y="0"/>
                  </a:lnTo>
                  <a:lnTo>
                    <a:pt x="348203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" r="0" b="-62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3482035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Shift+F7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999586" y="6583680"/>
            <a:ext cx="4608576" cy="905256"/>
            <a:chOff x="0" y="0"/>
            <a:chExt cx="6144768" cy="12070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44768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6144768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Segments window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915" y="7671435"/>
            <a:ext cx="7700010" cy="924306"/>
            <a:chOff x="0" y="0"/>
            <a:chExt cx="10266680" cy="12324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6668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26668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0154666" y="0"/>
                  </a:lnTo>
                  <a:cubicBezTo>
                    <a:pt x="10216515" y="0"/>
                    <a:pt x="10266680" y="50165"/>
                    <a:pt x="10266680" y="112014"/>
                  </a:cubicBezTo>
                  <a:lnTo>
                    <a:pt x="10266680" y="1120394"/>
                  </a:lnTo>
                  <a:cubicBezTo>
                    <a:pt x="10266680" y="1182243"/>
                    <a:pt x="10216515" y="1232408"/>
                    <a:pt x="1015466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81328" y="7680960"/>
            <a:ext cx="2611526" cy="905256"/>
            <a:chOff x="0" y="0"/>
            <a:chExt cx="3482035" cy="12070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8203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82036">
                  <a:moveTo>
                    <a:pt x="0" y="0"/>
                  </a:moveTo>
                  <a:lnTo>
                    <a:pt x="3482036" y="0"/>
                  </a:lnTo>
                  <a:lnTo>
                    <a:pt x="348203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11" r="0" b="-621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482035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58A6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Shift+F8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999586" y="7680960"/>
            <a:ext cx="4608576" cy="905256"/>
            <a:chOff x="0" y="0"/>
            <a:chExt cx="6144768" cy="12070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144768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44768">
                  <a:moveTo>
                    <a:pt x="0" y="0"/>
                  </a:moveTo>
                  <a:lnTo>
                    <a:pt x="6144768" y="0"/>
                  </a:lnTo>
                  <a:lnTo>
                    <a:pt x="6144768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6144768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Signatures window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64040" y="2674620"/>
            <a:ext cx="7543800" cy="548640"/>
            <a:chOff x="0" y="0"/>
            <a:chExt cx="10058400" cy="7315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0058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Search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54515" y="3282315"/>
            <a:ext cx="7562850" cy="924306"/>
            <a:chOff x="0" y="0"/>
            <a:chExt cx="10083800" cy="12324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08380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08380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971786" y="0"/>
                  </a:lnTo>
                  <a:cubicBezTo>
                    <a:pt x="10033635" y="0"/>
                    <a:pt x="10083800" y="50165"/>
                    <a:pt x="10083800" y="112014"/>
                  </a:cubicBezTo>
                  <a:lnTo>
                    <a:pt x="10083800" y="1120394"/>
                  </a:lnTo>
                  <a:cubicBezTo>
                    <a:pt x="10083800" y="1182243"/>
                    <a:pt x="10033635" y="1232408"/>
                    <a:pt x="997178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9710928" y="3291840"/>
            <a:ext cx="2564892" cy="905256"/>
            <a:chOff x="0" y="0"/>
            <a:chExt cx="3419856" cy="12070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1985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19856">
                  <a:moveTo>
                    <a:pt x="0" y="0"/>
                  </a:moveTo>
                  <a:lnTo>
                    <a:pt x="3419856" y="0"/>
                  </a:lnTo>
                  <a:lnTo>
                    <a:pt x="341985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3419856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Alt+T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179808" y="3291840"/>
            <a:ext cx="4526280" cy="905256"/>
            <a:chOff x="0" y="0"/>
            <a:chExt cx="6035040" cy="12070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0350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603504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Text search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454515" y="4379595"/>
            <a:ext cx="7562850" cy="924306"/>
            <a:chOff x="0" y="0"/>
            <a:chExt cx="10083800" cy="12324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8380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08380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971786" y="0"/>
                  </a:lnTo>
                  <a:cubicBezTo>
                    <a:pt x="10033635" y="0"/>
                    <a:pt x="10083800" y="50165"/>
                    <a:pt x="10083800" y="112014"/>
                  </a:cubicBezTo>
                  <a:lnTo>
                    <a:pt x="10083800" y="1120394"/>
                  </a:lnTo>
                  <a:cubicBezTo>
                    <a:pt x="10083800" y="1182243"/>
                    <a:pt x="10033635" y="1232408"/>
                    <a:pt x="997178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710928" y="4389120"/>
            <a:ext cx="2564892" cy="905256"/>
            <a:chOff x="0" y="0"/>
            <a:chExt cx="3419856" cy="12070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1985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19856">
                  <a:moveTo>
                    <a:pt x="0" y="0"/>
                  </a:moveTo>
                  <a:lnTo>
                    <a:pt x="3419856" y="0"/>
                  </a:lnTo>
                  <a:lnTo>
                    <a:pt x="341985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3419856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Alt+B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179808" y="4389120"/>
            <a:ext cx="4526280" cy="905256"/>
            <a:chOff x="0" y="0"/>
            <a:chExt cx="6035040" cy="12070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350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03504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Binary search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54515" y="5476875"/>
            <a:ext cx="7562850" cy="924306"/>
            <a:chOff x="0" y="0"/>
            <a:chExt cx="10083800" cy="12324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083800" cy="1232408"/>
            </a:xfrm>
            <a:custGeom>
              <a:avLst/>
              <a:gdLst/>
              <a:ahLst/>
              <a:cxnLst/>
              <a:rect r="r" b="b" t="t" l="l"/>
              <a:pathLst>
                <a:path h="1232408" w="10083800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9971786" y="0"/>
                  </a:lnTo>
                  <a:cubicBezTo>
                    <a:pt x="10033635" y="0"/>
                    <a:pt x="10083800" y="50165"/>
                    <a:pt x="10083800" y="112014"/>
                  </a:cubicBezTo>
                  <a:lnTo>
                    <a:pt x="10083800" y="1120394"/>
                  </a:lnTo>
                  <a:cubicBezTo>
                    <a:pt x="10083800" y="1182243"/>
                    <a:pt x="10033635" y="1232408"/>
                    <a:pt x="9971786" y="1232408"/>
                  </a:cubicBezTo>
                  <a:lnTo>
                    <a:pt x="112014" y="1232408"/>
                  </a:lnTo>
                  <a:cubicBezTo>
                    <a:pt x="50165" y="1232408"/>
                    <a:pt x="0" y="1182243"/>
                    <a:pt x="0" y="1120394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30363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9710928" y="5486400"/>
            <a:ext cx="2564892" cy="905256"/>
            <a:chOff x="0" y="0"/>
            <a:chExt cx="3419856" cy="120700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419856" cy="1207008"/>
            </a:xfrm>
            <a:custGeom>
              <a:avLst/>
              <a:gdLst/>
              <a:ahLst/>
              <a:cxnLst/>
              <a:rect r="r" b="b" t="t" l="l"/>
              <a:pathLst>
                <a:path h="1207008" w="3419856">
                  <a:moveTo>
                    <a:pt x="0" y="0"/>
                  </a:moveTo>
                  <a:lnTo>
                    <a:pt x="3419856" y="0"/>
                  </a:lnTo>
                  <a:lnTo>
                    <a:pt x="3419856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3419856" cy="1216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Ctrl+F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179808" y="5486400"/>
            <a:ext cx="4526280" cy="905256"/>
            <a:chOff x="0" y="0"/>
            <a:chExt cx="6035040" cy="12070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03504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603504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6EDF3"/>
                  </a:solidFill>
                  <a:latin typeface="Arial"/>
                  <a:ea typeface="Arial"/>
                  <a:cs typeface="Arial"/>
                  <a:sym typeface="Arial"/>
                </a:rPr>
                <a:t>Find in current window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70040">
            <a:off x="602580" y="60769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5229960">
            <a:off x="328260" y="88201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170040">
            <a:off x="17107043" y="966025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229960">
            <a:off x="17381363" y="9385935"/>
            <a:ext cx="577920" cy="0"/>
          </a:xfrm>
          <a:prstGeom prst="line">
            <a:avLst/>
          </a:prstGeom>
          <a:ln cap="rnd" w="19050">
            <a:solidFill>
              <a:srgbClr val="30363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26464" y="2043112"/>
            <a:ext cx="2634615" cy="2634615"/>
            <a:chOff x="0" y="0"/>
            <a:chExt cx="3512820" cy="35128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12820" cy="3512820"/>
            </a:xfrm>
            <a:custGeom>
              <a:avLst/>
              <a:gdLst/>
              <a:ahLst/>
              <a:cxnLst/>
              <a:rect r="r" b="b" t="t" l="l"/>
              <a:pathLst>
                <a:path h="3512820" w="3512820">
                  <a:moveTo>
                    <a:pt x="0" y="1756410"/>
                  </a:moveTo>
                  <a:cubicBezTo>
                    <a:pt x="0" y="786384"/>
                    <a:pt x="786384" y="0"/>
                    <a:pt x="1756410" y="0"/>
                  </a:cubicBezTo>
                  <a:cubicBezTo>
                    <a:pt x="2726436" y="0"/>
                    <a:pt x="3512820" y="786384"/>
                    <a:pt x="3512820" y="1756410"/>
                  </a:cubicBezTo>
                  <a:cubicBezTo>
                    <a:pt x="3512820" y="2726436"/>
                    <a:pt x="2726436" y="3512820"/>
                    <a:pt x="1756410" y="3512820"/>
                  </a:cubicBezTo>
                  <a:cubicBezTo>
                    <a:pt x="786384" y="3512820"/>
                    <a:pt x="0" y="2726436"/>
                    <a:pt x="0" y="1756410"/>
                  </a:cubicBezTo>
                  <a:close/>
                </a:path>
              </a:pathLst>
            </a:custGeom>
            <a:solidFill>
              <a:srgbClr val="1C222B"/>
            </a:solidFill>
            <a:ln w="28575" cap="sq">
              <a:solidFill>
                <a:srgbClr val="3FB95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840751" y="2057400"/>
            <a:ext cx="2606040" cy="2606040"/>
            <a:chOff x="0" y="0"/>
            <a:chExt cx="347472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474720" cy="3484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627"/>
                </a:lnSpc>
              </a:pPr>
              <a:r>
                <a:rPr lang="en-US" sz="969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&gt;_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4937760"/>
            <a:ext cx="18287543" cy="1371600"/>
            <a:chOff x="0" y="0"/>
            <a:chExt cx="2438339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339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94" r="0" b="-2097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438339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E6EDF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Let's Practice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0" y="6172200"/>
            <a:ext cx="18287543" cy="685800"/>
            <a:chOff x="0" y="0"/>
            <a:chExt cx="2438339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383391" cy="914400"/>
            </a:xfrm>
            <a:custGeom>
              <a:avLst/>
              <a:gdLst/>
              <a:ahLst/>
              <a:cxnLst/>
              <a:rect r="r" b="b" t="t" l="l"/>
              <a:pathLst>
                <a:path h="9144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588" r="0" b="-4695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438339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8B949E"/>
                  </a:solidFill>
                  <a:latin typeface="Arial"/>
                  <a:ea typeface="Arial"/>
                  <a:cs typeface="Arial"/>
                  <a:sym typeface="Arial"/>
                </a:rPr>
                <a:t>Time to open a real binary and find the flag.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0" y="9052560"/>
            <a:ext cx="18287543" cy="548640"/>
            <a:chOff x="0" y="0"/>
            <a:chExt cx="2438339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3391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485" r="0" b="-5994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438339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3FB95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SecuriNtes FST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DAHSoH0tmKA</dc:identifier>
  <dcterms:modified xsi:type="dcterms:W3CDTF">2011-08-01T06:04:30Z</dcterms:modified>
  <cp:revision>1</cp:revision>
  <dc:title>Reverse Engineering CTF Workshop - SecuriNtes FST.pptx</dc:title>
</cp:coreProperties>
</file>